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8288000" cy="10287000"/>
  <p:notesSz cx="6858000" cy="9144000"/>
  <p:embeddedFontLst>
    <p:embeddedFont>
      <p:font typeface="IBM Plex Sans Bold" panose="020B0604020202020204" charset="0"/>
      <p:regular r:id="rId12"/>
    </p:embeddedFont>
    <p:embeddedFont>
      <p:font typeface="Inter" panose="020B0604020202020204" charset="0"/>
      <p:regular r:id="rId13"/>
    </p:embeddedFont>
    <p:embeddedFont>
      <p:font typeface="Inter Bold" panose="020B0604020202020204" charset="0"/>
      <p:regular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0" d="100"/>
          <a:sy n="70" d="100"/>
        </p:scale>
        <p:origin x="774" y="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C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1430000" y="0"/>
            <a:ext cx="0" cy="10287000"/>
          </a:xfrm>
          <a:prstGeom prst="line">
            <a:avLst/>
          </a:prstGeom>
          <a:ln w="9525" cap="flat">
            <a:solidFill>
              <a:srgbClr val="12233D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CL"/>
          </a:p>
        </p:txBody>
      </p:sp>
      <p:sp>
        <p:nvSpPr>
          <p:cNvPr id="3" name="AutoShape 3"/>
          <p:cNvSpPr/>
          <p:nvPr/>
        </p:nvSpPr>
        <p:spPr>
          <a:xfrm>
            <a:off x="12573000" y="0"/>
            <a:ext cx="0" cy="10287000"/>
          </a:xfrm>
          <a:prstGeom prst="line">
            <a:avLst/>
          </a:prstGeom>
          <a:ln w="9525" cap="flat">
            <a:solidFill>
              <a:srgbClr val="12233D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CL"/>
          </a:p>
        </p:txBody>
      </p:sp>
      <p:sp>
        <p:nvSpPr>
          <p:cNvPr id="4" name="AutoShape 4"/>
          <p:cNvSpPr/>
          <p:nvPr/>
        </p:nvSpPr>
        <p:spPr>
          <a:xfrm>
            <a:off x="13716000" y="0"/>
            <a:ext cx="0" cy="10287000"/>
          </a:xfrm>
          <a:prstGeom prst="line">
            <a:avLst/>
          </a:prstGeom>
          <a:ln w="9525" cap="flat">
            <a:solidFill>
              <a:srgbClr val="12233D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CL"/>
          </a:p>
        </p:txBody>
      </p:sp>
      <p:sp>
        <p:nvSpPr>
          <p:cNvPr id="5" name="AutoShape 5"/>
          <p:cNvSpPr/>
          <p:nvPr/>
        </p:nvSpPr>
        <p:spPr>
          <a:xfrm>
            <a:off x="14859000" y="0"/>
            <a:ext cx="0" cy="10287000"/>
          </a:xfrm>
          <a:prstGeom prst="line">
            <a:avLst/>
          </a:prstGeom>
          <a:ln w="9525" cap="flat">
            <a:solidFill>
              <a:srgbClr val="12233D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CL"/>
          </a:p>
        </p:txBody>
      </p:sp>
      <p:sp>
        <p:nvSpPr>
          <p:cNvPr id="6" name="AutoShape 6"/>
          <p:cNvSpPr/>
          <p:nvPr/>
        </p:nvSpPr>
        <p:spPr>
          <a:xfrm>
            <a:off x="16002000" y="0"/>
            <a:ext cx="0" cy="10287000"/>
          </a:xfrm>
          <a:prstGeom prst="line">
            <a:avLst/>
          </a:prstGeom>
          <a:ln w="9525" cap="flat">
            <a:solidFill>
              <a:srgbClr val="12233D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CL"/>
          </a:p>
        </p:txBody>
      </p:sp>
      <p:sp>
        <p:nvSpPr>
          <p:cNvPr id="7" name="AutoShape 7"/>
          <p:cNvSpPr/>
          <p:nvPr/>
        </p:nvSpPr>
        <p:spPr>
          <a:xfrm>
            <a:off x="17145000" y="0"/>
            <a:ext cx="0" cy="10287000"/>
          </a:xfrm>
          <a:prstGeom prst="line">
            <a:avLst/>
          </a:prstGeom>
          <a:ln w="9525" cap="flat">
            <a:solidFill>
              <a:srgbClr val="12233D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CL"/>
          </a:p>
        </p:txBody>
      </p:sp>
      <p:grpSp>
        <p:nvGrpSpPr>
          <p:cNvPr id="8" name="Group 8"/>
          <p:cNvGrpSpPr/>
          <p:nvPr/>
        </p:nvGrpSpPr>
        <p:grpSpPr>
          <a:xfrm>
            <a:off x="13335000" y="-2857500"/>
            <a:ext cx="8572500" cy="8572500"/>
            <a:chOff x="0" y="0"/>
            <a:chExt cx="11430000" cy="114300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1430000" cy="11430000"/>
            </a:xfrm>
            <a:custGeom>
              <a:avLst/>
              <a:gdLst/>
              <a:ahLst/>
              <a:cxnLst/>
              <a:rect l="l" t="t" r="r" b="b"/>
              <a:pathLst>
                <a:path w="11430000" h="11430000">
                  <a:moveTo>
                    <a:pt x="5715000" y="0"/>
                  </a:moveTo>
                  <a:cubicBezTo>
                    <a:pt x="8871307" y="0"/>
                    <a:pt x="11430000" y="2558693"/>
                    <a:pt x="11430000" y="5715000"/>
                  </a:cubicBezTo>
                  <a:cubicBezTo>
                    <a:pt x="11430000" y="8871307"/>
                    <a:pt x="8871307" y="11430000"/>
                    <a:pt x="5715000" y="11430000"/>
                  </a:cubicBezTo>
                  <a:cubicBezTo>
                    <a:pt x="2558693" y="11430000"/>
                    <a:pt x="0" y="8871307"/>
                    <a:pt x="0" y="5715000"/>
                  </a:cubicBezTo>
                  <a:cubicBezTo>
                    <a:pt x="0" y="2558693"/>
                    <a:pt x="2558693" y="0"/>
                    <a:pt x="5715000" y="0"/>
                  </a:cubicBezTo>
                  <a:close/>
                </a:path>
              </a:pathLst>
            </a:custGeom>
            <a:solidFill>
              <a:srgbClr val="1E3A5F">
                <a:alpha val="49804"/>
              </a:srgbClr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CL"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143000" y="2857500"/>
            <a:ext cx="685800" cy="57150"/>
            <a:chOff x="0" y="0"/>
            <a:chExt cx="914400" cy="762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914400" cy="76200"/>
            </a:xfrm>
            <a:custGeom>
              <a:avLst/>
              <a:gdLst/>
              <a:ahLst/>
              <a:cxnLst/>
              <a:rect l="l" t="t" r="r" b="b"/>
              <a:pathLst>
                <a:path w="914400" h="76200">
                  <a:moveTo>
                    <a:pt x="0" y="0"/>
                  </a:moveTo>
                  <a:lnTo>
                    <a:pt x="914400" y="0"/>
                  </a:lnTo>
                  <a:lnTo>
                    <a:pt x="914400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7FC8F8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38100"/>
              <a:ext cx="914400" cy="114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1143000" y="1104900"/>
            <a:ext cx="13335000" cy="266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b="1" spc="300">
                <a:solidFill>
                  <a:srgbClr val="7FC8F8"/>
                </a:solidFill>
                <a:latin typeface="Inter Bold"/>
                <a:ea typeface="Inter Bold"/>
                <a:cs typeface="Inter Bold"/>
                <a:sym typeface="Inter Bold"/>
              </a:rPr>
              <a:t>STL — SISTEMA DE TRANSPORTE LOGÍSTICO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143000" y="3457575"/>
            <a:ext cx="14287500" cy="22650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820"/>
              </a:lnSpc>
            </a:pPr>
            <a:r>
              <a:rPr lang="en-US" sz="8400" b="1">
                <a:solidFill>
                  <a:srgbClr val="FFFFFF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Ecosistema multiplataforma</a:t>
            </a:r>
          </a:p>
          <a:p>
            <a:pPr algn="l">
              <a:lnSpc>
                <a:spcPts val="8820"/>
              </a:lnSpc>
            </a:pPr>
            <a:r>
              <a:rPr lang="en-US" sz="8400" b="1">
                <a:solidFill>
                  <a:srgbClr val="FFFFFF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para transporte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143000" y="6076031"/>
            <a:ext cx="11430000" cy="4057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7FC8F8"/>
                </a:solidFill>
                <a:latin typeface="Inter"/>
                <a:ea typeface="Inter"/>
                <a:cs typeface="Inter"/>
                <a:sym typeface="Inter"/>
              </a:rPr>
              <a:t>Proyecto Capstone · Fase 1 — Duoc UC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143000" y="8172450"/>
            <a:ext cx="3810000" cy="2228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b="1" spc="270">
                <a:solidFill>
                  <a:srgbClr val="7FC8F8"/>
                </a:solidFill>
                <a:latin typeface="Inter Bold"/>
                <a:ea typeface="Inter Bold"/>
                <a:cs typeface="Inter Bold"/>
                <a:sym typeface="Inter Bold"/>
              </a:rPr>
              <a:t>EQUIPO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143000" y="8439150"/>
            <a:ext cx="15240000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F4F6FA"/>
                </a:solidFill>
                <a:latin typeface="Inter"/>
                <a:ea typeface="Inter"/>
                <a:cs typeface="Inter"/>
                <a:sym typeface="Inter"/>
              </a:rPr>
              <a:t>Andrés Rojas   ·   Eduardo Figueroa   ·   Manuel Molina   ·   Matías Oróstica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5240000" y="8172450"/>
            <a:ext cx="1905000" cy="2228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889"/>
              </a:lnSpc>
            </a:pPr>
            <a:r>
              <a:rPr lang="en-US" sz="1350" b="1" spc="270" dirty="0">
                <a:solidFill>
                  <a:srgbClr val="7FC8F8"/>
                </a:solidFill>
                <a:latin typeface="Inter Bold"/>
                <a:ea typeface="Inter Bold"/>
                <a:cs typeface="Inter Bold"/>
                <a:sym typeface="Inter Bold"/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143000" y="571500"/>
            <a:ext cx="457200" cy="38100"/>
            <a:chOff x="0" y="0"/>
            <a:chExt cx="609600" cy="50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09600" cy="50800"/>
            </a:xfrm>
            <a:custGeom>
              <a:avLst/>
              <a:gdLst/>
              <a:ahLst/>
              <a:cxnLst/>
              <a:rect l="l" t="t" r="r" b="b"/>
              <a:pathLst>
                <a:path w="609600" h="50800">
                  <a:moveTo>
                    <a:pt x="0" y="0"/>
                  </a:moveTo>
                  <a:lnTo>
                    <a:pt x="609600" y="0"/>
                  </a:lnTo>
                  <a:lnTo>
                    <a:pt x="609600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4EA8DE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609600" cy="88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790700" y="400050"/>
            <a:ext cx="1905000" cy="2228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b="1" spc="405">
                <a:solidFill>
                  <a:srgbClr val="4EA8DE"/>
                </a:solidFill>
                <a:latin typeface="Inter Bold"/>
                <a:ea typeface="Inter Bold"/>
                <a:cs typeface="Inter Bold"/>
                <a:sym typeface="Inter Bold"/>
              </a:rPr>
              <a:t>02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2381250" y="400050"/>
            <a:ext cx="8572500" cy="2228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spc="270">
                <a:solidFill>
                  <a:srgbClr val="1E3A5F"/>
                </a:solidFill>
                <a:latin typeface="Inter"/>
                <a:ea typeface="Inter"/>
                <a:cs typeface="Inter"/>
                <a:sym typeface="Inter"/>
              </a:rPr>
              <a:t>Contexto y Problemática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143000" y="9696450"/>
            <a:ext cx="8572500" cy="1733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lang="en-US" sz="1050" spc="315">
                <a:solidFill>
                  <a:srgbClr val="6B7C93"/>
                </a:solidFill>
                <a:latin typeface="Inter"/>
                <a:ea typeface="Inter"/>
                <a:cs typeface="Inter"/>
                <a:sym typeface="Inter"/>
              </a:rPr>
              <a:t>STL · Capstone Fase 1 · Duoc UC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5240000" y="9696450"/>
            <a:ext cx="1905000" cy="1733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470"/>
              </a:lnSpc>
            </a:pPr>
            <a:r>
              <a:rPr lang="en-US" sz="1050" spc="315">
                <a:solidFill>
                  <a:srgbClr val="6B7C93"/>
                </a:solidFill>
                <a:latin typeface="Inter"/>
                <a:ea typeface="Inter"/>
                <a:cs typeface="Inter"/>
                <a:sym typeface="Inter"/>
              </a:rPr>
              <a:t>02 / 10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143000" y="1485900"/>
            <a:ext cx="3810000" cy="266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b="1" spc="300">
                <a:solidFill>
                  <a:srgbClr val="4EA8DE"/>
                </a:solidFill>
                <a:latin typeface="Inter Bold"/>
                <a:ea typeface="Inter Bold"/>
                <a:cs typeface="Inter Bold"/>
                <a:sym typeface="Inter Bold"/>
              </a:rPr>
              <a:t>CONTEXTO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143000" y="1952625"/>
            <a:ext cx="13335000" cy="15259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940"/>
              </a:lnSpc>
            </a:pPr>
            <a:r>
              <a:rPr lang="en-US" sz="5400" b="1">
                <a:solidFill>
                  <a:srgbClr val="0B1C33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El transporte terrestre</a:t>
            </a:r>
          </a:p>
          <a:p>
            <a:pPr algn="l">
              <a:lnSpc>
                <a:spcPts val="5940"/>
              </a:lnSpc>
            </a:pPr>
            <a:r>
              <a:rPr lang="en-US" sz="5400" b="1">
                <a:solidFill>
                  <a:srgbClr val="0B1C33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opera a ciegas.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143000" y="3726180"/>
            <a:ext cx="10477500" cy="6229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lang="en-US" sz="1650">
                <a:solidFill>
                  <a:srgbClr val="1E3A5F"/>
                </a:solidFill>
                <a:latin typeface="Inter"/>
                <a:ea typeface="Inter"/>
                <a:cs typeface="Inter"/>
                <a:sym typeface="Inter"/>
              </a:rPr>
              <a:t>La operación logística en Chile enfrenta brechas críticas de visibilidad y control que impactan a operadores, conductores y clientes finales.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1143000" y="6858000"/>
            <a:ext cx="4762500" cy="2857500"/>
            <a:chOff x="0" y="0"/>
            <a:chExt cx="6350000" cy="3810000"/>
          </a:xfrm>
        </p:grpSpPr>
        <p:grpSp>
          <p:nvGrpSpPr>
            <p:cNvPr id="13" name="Group 13"/>
            <p:cNvGrpSpPr/>
            <p:nvPr/>
          </p:nvGrpSpPr>
          <p:grpSpPr>
            <a:xfrm>
              <a:off x="0" y="0"/>
              <a:ext cx="6350000" cy="3810000"/>
              <a:chOff x="0" y="0"/>
              <a:chExt cx="6350000" cy="3810000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0" y="0"/>
                <a:ext cx="6350000" cy="3810000"/>
              </a:xfrm>
              <a:custGeom>
                <a:avLst/>
                <a:gdLst/>
                <a:ahLst/>
                <a:cxnLst/>
                <a:rect l="l" t="t" r="r" b="b"/>
                <a:pathLst>
                  <a:path w="6350000" h="3810000">
                    <a:moveTo>
                      <a:pt x="0" y="0"/>
                    </a:moveTo>
                    <a:lnTo>
                      <a:pt x="6350000" y="0"/>
                    </a:lnTo>
                    <a:lnTo>
                      <a:pt x="6350000" y="3810000"/>
                    </a:lnTo>
                    <a:lnTo>
                      <a:pt x="0" y="3810000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sq">
                <a:solidFill>
                  <a:srgbClr val="D5DDE8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s-CL"/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0" y="-38100"/>
                <a:ext cx="6350000" cy="38481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grpSp>
          <p:nvGrpSpPr>
            <p:cNvPr id="16" name="Group 16"/>
            <p:cNvGrpSpPr/>
            <p:nvPr/>
          </p:nvGrpSpPr>
          <p:grpSpPr>
            <a:xfrm>
              <a:off x="0" y="0"/>
              <a:ext cx="6350000" cy="50800"/>
              <a:chOff x="0" y="0"/>
              <a:chExt cx="6350000" cy="50800"/>
            </a:xfrm>
          </p:grpSpPr>
          <p:sp>
            <p:nvSpPr>
              <p:cNvPr id="17" name="Freeform 17"/>
              <p:cNvSpPr/>
              <p:nvPr/>
            </p:nvSpPr>
            <p:spPr>
              <a:xfrm>
                <a:off x="0" y="0"/>
                <a:ext cx="635000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6350000" h="50800">
                    <a:moveTo>
                      <a:pt x="0" y="0"/>
                    </a:moveTo>
                    <a:lnTo>
                      <a:pt x="6350000" y="0"/>
                    </a:lnTo>
                    <a:lnTo>
                      <a:pt x="6350000" y="50800"/>
                    </a:lnTo>
                    <a:lnTo>
                      <a:pt x="0" y="50800"/>
                    </a:lnTo>
                    <a:close/>
                  </a:path>
                </a:pathLst>
              </a:custGeom>
              <a:solidFill>
                <a:srgbClr val="4EA8DE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s-CL"/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0" y="-38100"/>
                <a:ext cx="6350000" cy="889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19" name="TextBox 19"/>
            <p:cNvSpPr txBox="1"/>
            <p:nvPr/>
          </p:nvSpPr>
          <p:spPr>
            <a:xfrm>
              <a:off x="406400" y="377825"/>
              <a:ext cx="1524000" cy="26733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679"/>
                </a:lnSpc>
              </a:pPr>
              <a:r>
                <a:rPr lang="en-US" sz="1200" b="1" spc="240">
                  <a:solidFill>
                    <a:srgbClr val="4EA8DE"/>
                  </a:solidFill>
                  <a:latin typeface="Inter Bold"/>
                  <a:ea typeface="Inter Bold"/>
                  <a:cs typeface="Inter Bold"/>
                  <a:sym typeface="Inter Bold"/>
                </a:rPr>
                <a:t>01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06400" y="914400"/>
              <a:ext cx="5537200" cy="3937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340"/>
                </a:lnSpc>
              </a:pPr>
              <a:r>
                <a:rPr lang="en-US" sz="1950" b="1">
                  <a:solidFill>
                    <a:srgbClr val="0B1C33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Falta de trazabilidad en ruta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406400" y="1492250"/>
              <a:ext cx="5537200" cy="60833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889"/>
                </a:lnSpc>
              </a:pPr>
              <a:r>
                <a:rPr lang="en-US" sz="1350">
                  <a:solidFill>
                    <a:srgbClr val="6B7C93"/>
                  </a:solidFill>
                  <a:latin typeface="Inter"/>
                  <a:ea typeface="Inter"/>
                  <a:cs typeface="Inter"/>
                  <a:sym typeface="Inter"/>
                </a:rPr>
                <a:t>Sin visibilidad en tiempo real de la flota ni de los envíos activos.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6191250" y="6858000"/>
            <a:ext cx="4762500" cy="2857500"/>
            <a:chOff x="0" y="0"/>
            <a:chExt cx="6350000" cy="3810000"/>
          </a:xfrm>
        </p:grpSpPr>
        <p:grpSp>
          <p:nvGrpSpPr>
            <p:cNvPr id="23" name="Group 23"/>
            <p:cNvGrpSpPr/>
            <p:nvPr/>
          </p:nvGrpSpPr>
          <p:grpSpPr>
            <a:xfrm>
              <a:off x="0" y="0"/>
              <a:ext cx="6350000" cy="3810000"/>
              <a:chOff x="0" y="0"/>
              <a:chExt cx="6350000" cy="3810000"/>
            </a:xfrm>
          </p:grpSpPr>
          <p:sp>
            <p:nvSpPr>
              <p:cNvPr id="24" name="Freeform 24"/>
              <p:cNvSpPr/>
              <p:nvPr/>
            </p:nvSpPr>
            <p:spPr>
              <a:xfrm>
                <a:off x="0" y="0"/>
                <a:ext cx="6350000" cy="3810000"/>
              </a:xfrm>
              <a:custGeom>
                <a:avLst/>
                <a:gdLst/>
                <a:ahLst/>
                <a:cxnLst/>
                <a:rect l="l" t="t" r="r" b="b"/>
                <a:pathLst>
                  <a:path w="6350000" h="3810000">
                    <a:moveTo>
                      <a:pt x="0" y="0"/>
                    </a:moveTo>
                    <a:lnTo>
                      <a:pt x="6350000" y="0"/>
                    </a:lnTo>
                    <a:lnTo>
                      <a:pt x="6350000" y="3810000"/>
                    </a:lnTo>
                    <a:lnTo>
                      <a:pt x="0" y="3810000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sq">
                <a:solidFill>
                  <a:srgbClr val="D5DDE8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s-CL"/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0" y="-38100"/>
                <a:ext cx="6350000" cy="38481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grpSp>
          <p:nvGrpSpPr>
            <p:cNvPr id="26" name="Group 26"/>
            <p:cNvGrpSpPr/>
            <p:nvPr/>
          </p:nvGrpSpPr>
          <p:grpSpPr>
            <a:xfrm>
              <a:off x="0" y="0"/>
              <a:ext cx="6350000" cy="50800"/>
              <a:chOff x="0" y="0"/>
              <a:chExt cx="6350000" cy="50800"/>
            </a:xfrm>
          </p:grpSpPr>
          <p:sp>
            <p:nvSpPr>
              <p:cNvPr id="27" name="Freeform 27"/>
              <p:cNvSpPr/>
              <p:nvPr/>
            </p:nvSpPr>
            <p:spPr>
              <a:xfrm>
                <a:off x="0" y="0"/>
                <a:ext cx="635000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6350000" h="50800">
                    <a:moveTo>
                      <a:pt x="0" y="0"/>
                    </a:moveTo>
                    <a:lnTo>
                      <a:pt x="6350000" y="0"/>
                    </a:lnTo>
                    <a:lnTo>
                      <a:pt x="6350000" y="50800"/>
                    </a:lnTo>
                    <a:lnTo>
                      <a:pt x="0" y="50800"/>
                    </a:lnTo>
                    <a:close/>
                  </a:path>
                </a:pathLst>
              </a:custGeom>
              <a:solidFill>
                <a:srgbClr val="4EA8DE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s-CL"/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0" y="-38100"/>
                <a:ext cx="6350000" cy="889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29" name="TextBox 29"/>
            <p:cNvSpPr txBox="1"/>
            <p:nvPr/>
          </p:nvSpPr>
          <p:spPr>
            <a:xfrm>
              <a:off x="406400" y="377825"/>
              <a:ext cx="1524000" cy="26733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679"/>
                </a:lnSpc>
              </a:pPr>
              <a:r>
                <a:rPr lang="en-US" sz="1200" b="1" spc="240">
                  <a:solidFill>
                    <a:srgbClr val="4EA8DE"/>
                  </a:solidFill>
                  <a:latin typeface="Inter Bold"/>
                  <a:ea typeface="Inter Bold"/>
                  <a:cs typeface="Inter Bold"/>
                  <a:sym typeface="Inter Bold"/>
                </a:rPr>
                <a:t>02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406400" y="914400"/>
              <a:ext cx="5537200" cy="3937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340"/>
                </a:lnSpc>
              </a:pPr>
              <a:r>
                <a:rPr lang="en-US" sz="1950" b="1" dirty="0" err="1">
                  <a:solidFill>
                    <a:srgbClr val="0B1C33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Cálculo</a:t>
              </a:r>
              <a:r>
                <a:rPr lang="en-US" sz="1950" b="1" dirty="0">
                  <a:solidFill>
                    <a:srgbClr val="0B1C33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 manual de </a:t>
              </a:r>
              <a:r>
                <a:rPr lang="en-US" sz="1950" b="1" dirty="0" err="1">
                  <a:solidFill>
                    <a:srgbClr val="0B1C33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presupuestos</a:t>
              </a:r>
              <a:endParaRPr lang="en-US" sz="1950" b="1" dirty="0">
                <a:solidFill>
                  <a:srgbClr val="0B1C33"/>
                </a:solidFill>
                <a:latin typeface="IBM Plex Sans Bold"/>
                <a:ea typeface="IBM Plex Sans Bold"/>
                <a:cs typeface="IBM Plex Sans Bold"/>
                <a:sym typeface="IBM Plex Sans Bold"/>
              </a:endParaRP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406400" y="1492250"/>
              <a:ext cx="5537200" cy="60833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889"/>
                </a:lnSpc>
              </a:pPr>
              <a:r>
                <a:rPr lang="en-US" sz="1350">
                  <a:solidFill>
                    <a:srgbClr val="6B7C93"/>
                  </a:solidFill>
                  <a:latin typeface="Inter"/>
                  <a:ea typeface="Inter"/>
                  <a:cs typeface="Inter"/>
                  <a:sym typeface="Inter"/>
                </a:rPr>
                <a:t>Procesos operativos lentos, propensos a error y difíciles de escalar.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11239500" y="6858000"/>
            <a:ext cx="4762500" cy="2857500"/>
            <a:chOff x="0" y="0"/>
            <a:chExt cx="6350000" cy="3810000"/>
          </a:xfrm>
        </p:grpSpPr>
        <p:grpSp>
          <p:nvGrpSpPr>
            <p:cNvPr id="33" name="Group 33"/>
            <p:cNvGrpSpPr/>
            <p:nvPr/>
          </p:nvGrpSpPr>
          <p:grpSpPr>
            <a:xfrm>
              <a:off x="0" y="0"/>
              <a:ext cx="6350000" cy="3810000"/>
              <a:chOff x="0" y="0"/>
              <a:chExt cx="6350000" cy="3810000"/>
            </a:xfrm>
          </p:grpSpPr>
          <p:sp>
            <p:nvSpPr>
              <p:cNvPr id="34" name="Freeform 34"/>
              <p:cNvSpPr/>
              <p:nvPr/>
            </p:nvSpPr>
            <p:spPr>
              <a:xfrm>
                <a:off x="0" y="0"/>
                <a:ext cx="6350000" cy="3810000"/>
              </a:xfrm>
              <a:custGeom>
                <a:avLst/>
                <a:gdLst/>
                <a:ahLst/>
                <a:cxnLst/>
                <a:rect l="l" t="t" r="r" b="b"/>
                <a:pathLst>
                  <a:path w="6350000" h="3810000">
                    <a:moveTo>
                      <a:pt x="0" y="0"/>
                    </a:moveTo>
                    <a:lnTo>
                      <a:pt x="6350000" y="0"/>
                    </a:lnTo>
                    <a:lnTo>
                      <a:pt x="6350000" y="3810000"/>
                    </a:lnTo>
                    <a:lnTo>
                      <a:pt x="0" y="3810000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sq">
                <a:solidFill>
                  <a:srgbClr val="D5DDE8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s-CL"/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0" y="-38100"/>
                <a:ext cx="6350000" cy="38481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grpSp>
          <p:nvGrpSpPr>
            <p:cNvPr id="36" name="Group 36"/>
            <p:cNvGrpSpPr/>
            <p:nvPr/>
          </p:nvGrpSpPr>
          <p:grpSpPr>
            <a:xfrm>
              <a:off x="0" y="0"/>
              <a:ext cx="6350000" cy="50800"/>
              <a:chOff x="0" y="0"/>
              <a:chExt cx="6350000" cy="50800"/>
            </a:xfrm>
          </p:grpSpPr>
          <p:sp>
            <p:nvSpPr>
              <p:cNvPr id="37" name="Freeform 37"/>
              <p:cNvSpPr/>
              <p:nvPr/>
            </p:nvSpPr>
            <p:spPr>
              <a:xfrm>
                <a:off x="0" y="0"/>
                <a:ext cx="635000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6350000" h="50800">
                    <a:moveTo>
                      <a:pt x="0" y="0"/>
                    </a:moveTo>
                    <a:lnTo>
                      <a:pt x="6350000" y="0"/>
                    </a:lnTo>
                    <a:lnTo>
                      <a:pt x="6350000" y="50800"/>
                    </a:lnTo>
                    <a:lnTo>
                      <a:pt x="0" y="50800"/>
                    </a:lnTo>
                    <a:close/>
                  </a:path>
                </a:pathLst>
              </a:custGeom>
              <a:solidFill>
                <a:srgbClr val="4EA8DE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s-CL"/>
              </a:p>
            </p:txBody>
          </p:sp>
          <p:sp>
            <p:nvSpPr>
              <p:cNvPr id="38" name="TextBox 38"/>
              <p:cNvSpPr txBox="1"/>
              <p:nvPr/>
            </p:nvSpPr>
            <p:spPr>
              <a:xfrm>
                <a:off x="0" y="-38100"/>
                <a:ext cx="6350000" cy="889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39" name="TextBox 39"/>
            <p:cNvSpPr txBox="1"/>
            <p:nvPr/>
          </p:nvSpPr>
          <p:spPr>
            <a:xfrm>
              <a:off x="406400" y="377825"/>
              <a:ext cx="1524000" cy="26733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679"/>
                </a:lnSpc>
              </a:pPr>
              <a:r>
                <a:rPr lang="en-US" sz="1200" b="1" spc="240">
                  <a:solidFill>
                    <a:srgbClr val="4EA8DE"/>
                  </a:solidFill>
                  <a:latin typeface="Inter Bold"/>
                  <a:ea typeface="Inter Bold"/>
                  <a:cs typeface="Inter Bold"/>
                  <a:sym typeface="Inter Bold"/>
                </a:rPr>
                <a:t>03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406400" y="914400"/>
              <a:ext cx="5537200" cy="3937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340"/>
                </a:lnSpc>
              </a:pPr>
              <a:r>
                <a:rPr lang="en-US" sz="1950" b="1">
                  <a:solidFill>
                    <a:srgbClr val="0B1C33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Comunicación deficiente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406400" y="1492250"/>
              <a:ext cx="5537200" cy="60833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889"/>
                </a:lnSpc>
              </a:pPr>
              <a:r>
                <a:rPr lang="en-US" sz="1350">
                  <a:solidFill>
                    <a:srgbClr val="6B7C93"/>
                  </a:solidFill>
                  <a:latin typeface="Inter"/>
                  <a:ea typeface="Inter"/>
                  <a:cs typeface="Inter"/>
                  <a:sym typeface="Inter"/>
                </a:rPr>
                <a:t>El cliente final no recibe información oportuna sobre el estado de su carga.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143000" y="571500"/>
            <a:ext cx="457200" cy="38100"/>
            <a:chOff x="0" y="0"/>
            <a:chExt cx="609600" cy="50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09600" cy="50800"/>
            </a:xfrm>
            <a:custGeom>
              <a:avLst/>
              <a:gdLst/>
              <a:ahLst/>
              <a:cxnLst/>
              <a:rect l="l" t="t" r="r" b="b"/>
              <a:pathLst>
                <a:path w="609600" h="50800">
                  <a:moveTo>
                    <a:pt x="0" y="0"/>
                  </a:moveTo>
                  <a:lnTo>
                    <a:pt x="609600" y="0"/>
                  </a:lnTo>
                  <a:lnTo>
                    <a:pt x="609600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4EA8DE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609600" cy="88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790700" y="400050"/>
            <a:ext cx="1905000" cy="2228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b="1" spc="405">
                <a:solidFill>
                  <a:srgbClr val="4EA8DE"/>
                </a:solidFill>
                <a:latin typeface="Inter Bold"/>
                <a:ea typeface="Inter Bold"/>
                <a:cs typeface="Inter Bold"/>
                <a:sym typeface="Inter Bold"/>
              </a:rPr>
              <a:t>03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2381250" y="400050"/>
            <a:ext cx="8572500" cy="2228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spc="270">
                <a:solidFill>
                  <a:srgbClr val="1E3A5F"/>
                </a:solidFill>
                <a:latin typeface="Inter"/>
                <a:ea typeface="Inter"/>
                <a:cs typeface="Inter"/>
                <a:sym typeface="Inter"/>
              </a:rPr>
              <a:t>La Solución Propuesta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143000" y="9696450"/>
            <a:ext cx="8572500" cy="1733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lang="en-US" sz="1050" spc="315">
                <a:solidFill>
                  <a:srgbClr val="6B7C93"/>
                </a:solidFill>
                <a:latin typeface="Inter"/>
                <a:ea typeface="Inter"/>
                <a:cs typeface="Inter"/>
                <a:sym typeface="Inter"/>
              </a:rPr>
              <a:t>STL · Capstone Fase 1 · Duoc UC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5240000" y="9696450"/>
            <a:ext cx="1905000" cy="1733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470"/>
              </a:lnSpc>
            </a:pPr>
            <a:r>
              <a:rPr lang="en-US" sz="1050" spc="315">
                <a:solidFill>
                  <a:srgbClr val="6B7C93"/>
                </a:solidFill>
                <a:latin typeface="Inter"/>
                <a:ea typeface="Inter"/>
                <a:cs typeface="Inter"/>
                <a:sym typeface="Inter"/>
              </a:rPr>
              <a:t>03 / 10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143000" y="1485900"/>
            <a:ext cx="3810000" cy="266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b="1" spc="300">
                <a:solidFill>
                  <a:srgbClr val="4EA8DE"/>
                </a:solidFill>
                <a:latin typeface="Inter Bold"/>
                <a:ea typeface="Inter Bold"/>
                <a:cs typeface="Inter Bold"/>
                <a:sym typeface="Inter Bold"/>
              </a:rPr>
              <a:t>SOLUCIÓN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143000" y="1952625"/>
            <a:ext cx="15240000" cy="15259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940"/>
              </a:lnSpc>
            </a:pPr>
            <a:r>
              <a:rPr lang="en-US" sz="5400" b="1">
                <a:solidFill>
                  <a:srgbClr val="0B1C33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Dos plataformas, un</a:t>
            </a:r>
          </a:p>
          <a:p>
            <a:pPr algn="l">
              <a:lnSpc>
                <a:spcPts val="5940"/>
              </a:lnSpc>
            </a:pPr>
            <a:r>
              <a:rPr lang="en-US" sz="5400" b="1">
                <a:solidFill>
                  <a:srgbClr val="0B1C33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ecosistema conectado.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1143000" y="4572000"/>
            <a:ext cx="7810500" cy="4953000"/>
            <a:chOff x="0" y="0"/>
            <a:chExt cx="10414000" cy="6604000"/>
          </a:xfrm>
        </p:grpSpPr>
        <p:grpSp>
          <p:nvGrpSpPr>
            <p:cNvPr id="12" name="Group 12"/>
            <p:cNvGrpSpPr/>
            <p:nvPr/>
          </p:nvGrpSpPr>
          <p:grpSpPr>
            <a:xfrm>
              <a:off x="0" y="0"/>
              <a:ext cx="10414000" cy="6604000"/>
              <a:chOff x="0" y="0"/>
              <a:chExt cx="10414000" cy="6604000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0" y="0"/>
                <a:ext cx="10414000" cy="6604000"/>
              </a:xfrm>
              <a:custGeom>
                <a:avLst/>
                <a:gdLst/>
                <a:ahLst/>
                <a:cxnLst/>
                <a:rect l="l" t="t" r="r" b="b"/>
                <a:pathLst>
                  <a:path w="10414000" h="6604000">
                    <a:moveTo>
                      <a:pt x="0" y="0"/>
                    </a:moveTo>
                    <a:lnTo>
                      <a:pt x="10414000" y="0"/>
                    </a:lnTo>
                    <a:lnTo>
                      <a:pt x="10414000" y="6604000"/>
                    </a:lnTo>
                    <a:lnTo>
                      <a:pt x="0" y="6604000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sq">
                <a:solidFill>
                  <a:srgbClr val="D5DDE8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s-CL"/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0" y="-38100"/>
                <a:ext cx="10414000" cy="66421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15" name="TextBox 15"/>
            <p:cNvSpPr txBox="1"/>
            <p:nvPr/>
          </p:nvSpPr>
          <p:spPr>
            <a:xfrm>
              <a:off x="508000" y="479425"/>
              <a:ext cx="5080000" cy="26733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679"/>
                </a:lnSpc>
              </a:pPr>
              <a:r>
                <a:rPr lang="en-US" sz="1200" b="1" spc="360">
                  <a:solidFill>
                    <a:srgbClr val="4EA8DE"/>
                  </a:solidFill>
                  <a:latin typeface="Inter Bold"/>
                  <a:ea typeface="Inter Bold"/>
                  <a:cs typeface="Inter Bold"/>
                  <a:sym typeface="Inter Bold"/>
                </a:rPr>
                <a:t>PANEL WEB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508000" y="1035050"/>
              <a:ext cx="9398000" cy="5905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450"/>
                </a:lnSpc>
              </a:pPr>
              <a:r>
                <a:rPr lang="en-US" sz="3000" b="1">
                  <a:solidFill>
                    <a:srgbClr val="0B1C33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Administración centralizada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508000" y="1831975"/>
              <a:ext cx="9398000" cy="7334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en-US" sz="1500">
                  <a:solidFill>
                    <a:srgbClr val="1E3A5F"/>
                  </a:solidFill>
                  <a:latin typeface="Inter"/>
                  <a:ea typeface="Inter"/>
                  <a:cs typeface="Inter"/>
                  <a:sym typeface="Inter"/>
                </a:rPr>
                <a:t>Gestión unificada de flota, rutas, clientes y presupuestos desde un panel operativo diseñado para escalar.</a:t>
              </a:r>
            </a:p>
          </p:txBody>
        </p:sp>
        <p:grpSp>
          <p:nvGrpSpPr>
            <p:cNvPr id="18" name="Group 18"/>
            <p:cNvGrpSpPr/>
            <p:nvPr/>
          </p:nvGrpSpPr>
          <p:grpSpPr>
            <a:xfrm>
              <a:off x="508000" y="2997200"/>
              <a:ext cx="127000" cy="127000"/>
              <a:chOff x="0" y="0"/>
              <a:chExt cx="127000" cy="127000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0" y="0"/>
                <a:ext cx="127000" cy="127000"/>
              </a:xfrm>
              <a:custGeom>
                <a:avLst/>
                <a:gdLst/>
                <a:ahLst/>
                <a:cxnLst/>
                <a:rect l="l" t="t" r="r" b="b"/>
                <a:pathLst>
                  <a:path w="127000" h="127000">
                    <a:moveTo>
                      <a:pt x="63500" y="0"/>
                    </a:moveTo>
                    <a:cubicBezTo>
                      <a:pt x="98570" y="0"/>
                      <a:pt x="127000" y="28430"/>
                      <a:pt x="127000" y="63500"/>
                    </a:cubicBezTo>
                    <a:cubicBezTo>
                      <a:pt x="127000" y="98570"/>
                      <a:pt x="98570" y="127000"/>
                      <a:pt x="63500" y="127000"/>
                    </a:cubicBezTo>
                    <a:cubicBezTo>
                      <a:pt x="28430" y="127000"/>
                      <a:pt x="0" y="98570"/>
                      <a:pt x="0" y="63500"/>
                    </a:cubicBezTo>
                    <a:cubicBezTo>
                      <a:pt x="0" y="28430"/>
                      <a:pt x="28430" y="0"/>
                      <a:pt x="63500" y="0"/>
                    </a:cubicBezTo>
                    <a:close/>
                  </a:path>
                </a:pathLst>
              </a:custGeom>
              <a:solidFill>
                <a:srgbClr val="4EA8DE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s-CL"/>
              </a:p>
            </p:txBody>
          </p:sp>
        </p:grpSp>
        <p:sp>
          <p:nvSpPr>
            <p:cNvPr id="20" name="TextBox 20"/>
            <p:cNvSpPr txBox="1"/>
            <p:nvPr/>
          </p:nvSpPr>
          <p:spPr>
            <a:xfrm>
              <a:off x="965200" y="2851150"/>
              <a:ext cx="8940800" cy="29083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889"/>
                </a:lnSpc>
              </a:pPr>
              <a:r>
                <a:rPr lang="en-US" sz="1350">
                  <a:solidFill>
                    <a:srgbClr val="1E3A5F"/>
                  </a:solidFill>
                  <a:latin typeface="Inter"/>
                  <a:ea typeface="Inter"/>
                  <a:cs typeface="Inter"/>
                  <a:sym typeface="Inter"/>
                </a:rPr>
                <a:t>Centraliza operaciones</a:t>
              </a:r>
            </a:p>
          </p:txBody>
        </p:sp>
        <p:grpSp>
          <p:nvGrpSpPr>
            <p:cNvPr id="21" name="Group 21"/>
            <p:cNvGrpSpPr/>
            <p:nvPr/>
          </p:nvGrpSpPr>
          <p:grpSpPr>
            <a:xfrm>
              <a:off x="508000" y="3421380"/>
              <a:ext cx="127000" cy="127000"/>
              <a:chOff x="0" y="0"/>
              <a:chExt cx="127000" cy="127000"/>
            </a:xfrm>
          </p:grpSpPr>
          <p:sp>
            <p:nvSpPr>
              <p:cNvPr id="22" name="Freeform 22"/>
              <p:cNvSpPr/>
              <p:nvPr/>
            </p:nvSpPr>
            <p:spPr>
              <a:xfrm>
                <a:off x="0" y="0"/>
                <a:ext cx="127000" cy="127000"/>
              </a:xfrm>
              <a:custGeom>
                <a:avLst/>
                <a:gdLst/>
                <a:ahLst/>
                <a:cxnLst/>
                <a:rect l="l" t="t" r="r" b="b"/>
                <a:pathLst>
                  <a:path w="127000" h="127000">
                    <a:moveTo>
                      <a:pt x="63500" y="0"/>
                    </a:moveTo>
                    <a:cubicBezTo>
                      <a:pt x="98570" y="0"/>
                      <a:pt x="127000" y="28430"/>
                      <a:pt x="127000" y="63500"/>
                    </a:cubicBezTo>
                    <a:cubicBezTo>
                      <a:pt x="127000" y="98570"/>
                      <a:pt x="98570" y="127000"/>
                      <a:pt x="63500" y="127000"/>
                    </a:cubicBezTo>
                    <a:cubicBezTo>
                      <a:pt x="28430" y="127000"/>
                      <a:pt x="0" y="98570"/>
                      <a:pt x="0" y="63500"/>
                    </a:cubicBezTo>
                    <a:cubicBezTo>
                      <a:pt x="0" y="28430"/>
                      <a:pt x="28430" y="0"/>
                      <a:pt x="63500" y="0"/>
                    </a:cubicBezTo>
                    <a:close/>
                  </a:path>
                </a:pathLst>
              </a:custGeom>
              <a:solidFill>
                <a:srgbClr val="4EA8DE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s-CL"/>
              </a:p>
            </p:txBody>
          </p:sp>
        </p:grpSp>
        <p:sp>
          <p:nvSpPr>
            <p:cNvPr id="23" name="TextBox 23"/>
            <p:cNvSpPr txBox="1"/>
            <p:nvPr/>
          </p:nvSpPr>
          <p:spPr>
            <a:xfrm>
              <a:off x="965200" y="3275330"/>
              <a:ext cx="8940800" cy="29083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889"/>
                </a:lnSpc>
              </a:pPr>
              <a:r>
                <a:rPr lang="en-US" sz="1350">
                  <a:solidFill>
                    <a:srgbClr val="1E3A5F"/>
                  </a:solidFill>
                  <a:latin typeface="Inter"/>
                  <a:ea typeface="Inter"/>
                  <a:cs typeface="Inter"/>
                  <a:sym typeface="Inter"/>
                </a:rPr>
                <a:t>Automatiza presupuestos</a:t>
              </a:r>
            </a:p>
          </p:txBody>
        </p:sp>
        <p:grpSp>
          <p:nvGrpSpPr>
            <p:cNvPr id="24" name="Group 24"/>
            <p:cNvGrpSpPr/>
            <p:nvPr/>
          </p:nvGrpSpPr>
          <p:grpSpPr>
            <a:xfrm>
              <a:off x="508000" y="3845560"/>
              <a:ext cx="127000" cy="127000"/>
              <a:chOff x="0" y="0"/>
              <a:chExt cx="127000" cy="127000"/>
            </a:xfrm>
          </p:grpSpPr>
          <p:sp>
            <p:nvSpPr>
              <p:cNvPr id="25" name="Freeform 25"/>
              <p:cNvSpPr/>
              <p:nvPr/>
            </p:nvSpPr>
            <p:spPr>
              <a:xfrm>
                <a:off x="0" y="0"/>
                <a:ext cx="127000" cy="127000"/>
              </a:xfrm>
              <a:custGeom>
                <a:avLst/>
                <a:gdLst/>
                <a:ahLst/>
                <a:cxnLst/>
                <a:rect l="l" t="t" r="r" b="b"/>
                <a:pathLst>
                  <a:path w="127000" h="127000">
                    <a:moveTo>
                      <a:pt x="63500" y="0"/>
                    </a:moveTo>
                    <a:cubicBezTo>
                      <a:pt x="98570" y="0"/>
                      <a:pt x="127000" y="28430"/>
                      <a:pt x="127000" y="63500"/>
                    </a:cubicBezTo>
                    <a:cubicBezTo>
                      <a:pt x="127000" y="98570"/>
                      <a:pt x="98570" y="127000"/>
                      <a:pt x="63500" y="127000"/>
                    </a:cubicBezTo>
                    <a:cubicBezTo>
                      <a:pt x="28430" y="127000"/>
                      <a:pt x="0" y="98570"/>
                      <a:pt x="0" y="63500"/>
                    </a:cubicBezTo>
                    <a:cubicBezTo>
                      <a:pt x="0" y="28430"/>
                      <a:pt x="28430" y="0"/>
                      <a:pt x="63500" y="0"/>
                    </a:cubicBezTo>
                    <a:close/>
                  </a:path>
                </a:pathLst>
              </a:custGeom>
              <a:solidFill>
                <a:srgbClr val="4EA8DE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s-CL"/>
              </a:p>
            </p:txBody>
          </p:sp>
        </p:grpSp>
        <p:sp>
          <p:nvSpPr>
            <p:cNvPr id="26" name="TextBox 26"/>
            <p:cNvSpPr txBox="1"/>
            <p:nvPr/>
          </p:nvSpPr>
          <p:spPr>
            <a:xfrm>
              <a:off x="965200" y="3699510"/>
              <a:ext cx="8940800" cy="29083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889"/>
                </a:lnSpc>
              </a:pPr>
              <a:r>
                <a:rPr lang="en-US" sz="1350">
                  <a:solidFill>
                    <a:srgbClr val="1E3A5F"/>
                  </a:solidFill>
                  <a:latin typeface="Inter"/>
                  <a:ea typeface="Inter"/>
                  <a:cs typeface="Inter"/>
                  <a:sym typeface="Inter"/>
                </a:rPr>
                <a:t>Trazabilidad en tiempo real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9334500" y="4572000"/>
            <a:ext cx="7810500" cy="4953000"/>
            <a:chOff x="0" y="0"/>
            <a:chExt cx="10414000" cy="6604000"/>
          </a:xfrm>
        </p:grpSpPr>
        <p:grpSp>
          <p:nvGrpSpPr>
            <p:cNvPr id="28" name="Group 28"/>
            <p:cNvGrpSpPr/>
            <p:nvPr/>
          </p:nvGrpSpPr>
          <p:grpSpPr>
            <a:xfrm>
              <a:off x="0" y="0"/>
              <a:ext cx="10414000" cy="6604000"/>
              <a:chOff x="0" y="0"/>
              <a:chExt cx="10414000" cy="6604000"/>
            </a:xfrm>
          </p:grpSpPr>
          <p:sp>
            <p:nvSpPr>
              <p:cNvPr id="29" name="Freeform 29"/>
              <p:cNvSpPr/>
              <p:nvPr/>
            </p:nvSpPr>
            <p:spPr>
              <a:xfrm>
                <a:off x="0" y="0"/>
                <a:ext cx="10414000" cy="6604000"/>
              </a:xfrm>
              <a:custGeom>
                <a:avLst/>
                <a:gdLst/>
                <a:ahLst/>
                <a:cxnLst/>
                <a:rect l="l" t="t" r="r" b="b"/>
                <a:pathLst>
                  <a:path w="10414000" h="6604000">
                    <a:moveTo>
                      <a:pt x="0" y="0"/>
                    </a:moveTo>
                    <a:lnTo>
                      <a:pt x="10414000" y="0"/>
                    </a:lnTo>
                    <a:lnTo>
                      <a:pt x="10414000" y="6604000"/>
                    </a:lnTo>
                    <a:lnTo>
                      <a:pt x="0" y="6604000"/>
                    </a:lnTo>
                    <a:close/>
                  </a:path>
                </a:pathLst>
              </a:custGeom>
              <a:solidFill>
                <a:srgbClr val="0B1C33"/>
              </a:solidFill>
              <a:ln w="9525" cap="sq">
                <a:solidFill>
                  <a:srgbClr val="D5DDE8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s-CL"/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0" y="-38100"/>
                <a:ext cx="10414000" cy="66421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31" name="TextBox 31"/>
            <p:cNvSpPr txBox="1"/>
            <p:nvPr/>
          </p:nvSpPr>
          <p:spPr>
            <a:xfrm>
              <a:off x="508000" y="479425"/>
              <a:ext cx="5080000" cy="26733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679"/>
                </a:lnSpc>
              </a:pPr>
              <a:r>
                <a:rPr lang="en-US" sz="1200" b="1" spc="360">
                  <a:solidFill>
                    <a:srgbClr val="7FC8F8"/>
                  </a:solidFill>
                  <a:latin typeface="Inter Bold"/>
                  <a:ea typeface="Inter Bold"/>
                  <a:cs typeface="Inter Bold"/>
                  <a:sym typeface="Inter Bold"/>
                </a:rPr>
                <a:t>APP MÓVIL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508000" y="1035050"/>
              <a:ext cx="9398000" cy="5905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450"/>
                </a:lnSpc>
              </a:pPr>
              <a:r>
                <a:rPr lang="en-US" sz="3000" b="1">
                  <a:solidFill>
                    <a:srgbClr val="FFFFFF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Conductor con soporte offline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508000" y="1831975"/>
              <a:ext cx="9398000" cy="7334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en-US" sz="1500">
                  <a:solidFill>
                    <a:srgbClr val="F4F6FA"/>
                  </a:solidFill>
                  <a:latin typeface="Inter"/>
                  <a:ea typeface="Inter"/>
                  <a:cs typeface="Inter"/>
                  <a:sym typeface="Inter"/>
                </a:rPr>
                <a:t>Aplicación nativa para el conductor con captura de eventos en ruta y sincronización diferida sin conexión.</a:t>
              </a:r>
            </a:p>
          </p:txBody>
        </p:sp>
        <p:grpSp>
          <p:nvGrpSpPr>
            <p:cNvPr id="34" name="Group 34"/>
            <p:cNvGrpSpPr/>
            <p:nvPr/>
          </p:nvGrpSpPr>
          <p:grpSpPr>
            <a:xfrm>
              <a:off x="508000" y="2997200"/>
              <a:ext cx="127000" cy="127000"/>
              <a:chOff x="0" y="0"/>
              <a:chExt cx="127000" cy="127000"/>
            </a:xfrm>
          </p:grpSpPr>
          <p:sp>
            <p:nvSpPr>
              <p:cNvPr id="35" name="Freeform 35"/>
              <p:cNvSpPr/>
              <p:nvPr/>
            </p:nvSpPr>
            <p:spPr>
              <a:xfrm>
                <a:off x="0" y="0"/>
                <a:ext cx="127000" cy="127000"/>
              </a:xfrm>
              <a:custGeom>
                <a:avLst/>
                <a:gdLst/>
                <a:ahLst/>
                <a:cxnLst/>
                <a:rect l="l" t="t" r="r" b="b"/>
                <a:pathLst>
                  <a:path w="127000" h="127000">
                    <a:moveTo>
                      <a:pt x="63500" y="0"/>
                    </a:moveTo>
                    <a:cubicBezTo>
                      <a:pt x="98570" y="0"/>
                      <a:pt x="127000" y="28430"/>
                      <a:pt x="127000" y="63500"/>
                    </a:cubicBezTo>
                    <a:cubicBezTo>
                      <a:pt x="127000" y="98570"/>
                      <a:pt x="98570" y="127000"/>
                      <a:pt x="63500" y="127000"/>
                    </a:cubicBezTo>
                    <a:cubicBezTo>
                      <a:pt x="28430" y="127000"/>
                      <a:pt x="0" y="98570"/>
                      <a:pt x="0" y="63500"/>
                    </a:cubicBezTo>
                    <a:cubicBezTo>
                      <a:pt x="0" y="28430"/>
                      <a:pt x="28430" y="0"/>
                      <a:pt x="63500" y="0"/>
                    </a:cubicBezTo>
                    <a:close/>
                  </a:path>
                </a:pathLst>
              </a:custGeom>
              <a:solidFill>
                <a:srgbClr val="7FC8F8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s-CL"/>
              </a:p>
            </p:txBody>
          </p:sp>
        </p:grpSp>
        <p:sp>
          <p:nvSpPr>
            <p:cNvPr id="36" name="TextBox 36"/>
            <p:cNvSpPr txBox="1"/>
            <p:nvPr/>
          </p:nvSpPr>
          <p:spPr>
            <a:xfrm>
              <a:off x="965200" y="2851150"/>
              <a:ext cx="8940800" cy="29083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889"/>
                </a:lnSpc>
              </a:pPr>
              <a:r>
                <a:rPr lang="en-US" sz="1350">
                  <a:solidFill>
                    <a:srgbClr val="F4F6FA"/>
                  </a:solidFill>
                  <a:latin typeface="Inter"/>
                  <a:ea typeface="Inter"/>
                  <a:cs typeface="Inter"/>
                  <a:sym typeface="Inter"/>
                </a:rPr>
                <a:t>Registro sin conexión</a:t>
              </a:r>
            </a:p>
          </p:txBody>
        </p:sp>
        <p:grpSp>
          <p:nvGrpSpPr>
            <p:cNvPr id="37" name="Group 37"/>
            <p:cNvGrpSpPr/>
            <p:nvPr/>
          </p:nvGrpSpPr>
          <p:grpSpPr>
            <a:xfrm>
              <a:off x="508000" y="3421380"/>
              <a:ext cx="127000" cy="127000"/>
              <a:chOff x="0" y="0"/>
              <a:chExt cx="127000" cy="127000"/>
            </a:xfrm>
          </p:grpSpPr>
          <p:sp>
            <p:nvSpPr>
              <p:cNvPr id="38" name="Freeform 38"/>
              <p:cNvSpPr/>
              <p:nvPr/>
            </p:nvSpPr>
            <p:spPr>
              <a:xfrm>
                <a:off x="0" y="0"/>
                <a:ext cx="127000" cy="127000"/>
              </a:xfrm>
              <a:custGeom>
                <a:avLst/>
                <a:gdLst/>
                <a:ahLst/>
                <a:cxnLst/>
                <a:rect l="l" t="t" r="r" b="b"/>
                <a:pathLst>
                  <a:path w="127000" h="127000">
                    <a:moveTo>
                      <a:pt x="63500" y="0"/>
                    </a:moveTo>
                    <a:cubicBezTo>
                      <a:pt x="98570" y="0"/>
                      <a:pt x="127000" y="28430"/>
                      <a:pt x="127000" y="63500"/>
                    </a:cubicBezTo>
                    <a:cubicBezTo>
                      <a:pt x="127000" y="98570"/>
                      <a:pt x="98570" y="127000"/>
                      <a:pt x="63500" y="127000"/>
                    </a:cubicBezTo>
                    <a:cubicBezTo>
                      <a:pt x="28430" y="127000"/>
                      <a:pt x="0" y="98570"/>
                      <a:pt x="0" y="63500"/>
                    </a:cubicBezTo>
                    <a:cubicBezTo>
                      <a:pt x="0" y="28430"/>
                      <a:pt x="28430" y="0"/>
                      <a:pt x="63500" y="0"/>
                    </a:cubicBezTo>
                    <a:close/>
                  </a:path>
                </a:pathLst>
              </a:custGeom>
              <a:solidFill>
                <a:srgbClr val="7FC8F8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s-CL"/>
              </a:p>
            </p:txBody>
          </p:sp>
        </p:grpSp>
        <p:sp>
          <p:nvSpPr>
            <p:cNvPr id="39" name="TextBox 39"/>
            <p:cNvSpPr txBox="1"/>
            <p:nvPr/>
          </p:nvSpPr>
          <p:spPr>
            <a:xfrm>
              <a:off x="965200" y="3275330"/>
              <a:ext cx="8940800" cy="29083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889"/>
                </a:lnSpc>
              </a:pPr>
              <a:r>
                <a:rPr lang="en-US" sz="1350">
                  <a:solidFill>
                    <a:srgbClr val="F4F6FA"/>
                  </a:solidFill>
                  <a:latin typeface="Inter"/>
                  <a:ea typeface="Inter"/>
                  <a:cs typeface="Inter"/>
                  <a:sym typeface="Inter"/>
                </a:rPr>
                <a:t>Sincronización automática</a:t>
              </a:r>
            </a:p>
          </p:txBody>
        </p:sp>
        <p:grpSp>
          <p:nvGrpSpPr>
            <p:cNvPr id="40" name="Group 40"/>
            <p:cNvGrpSpPr/>
            <p:nvPr/>
          </p:nvGrpSpPr>
          <p:grpSpPr>
            <a:xfrm>
              <a:off x="508000" y="3845560"/>
              <a:ext cx="127000" cy="127000"/>
              <a:chOff x="0" y="0"/>
              <a:chExt cx="127000" cy="127000"/>
            </a:xfrm>
          </p:grpSpPr>
          <p:sp>
            <p:nvSpPr>
              <p:cNvPr id="41" name="Freeform 41"/>
              <p:cNvSpPr/>
              <p:nvPr/>
            </p:nvSpPr>
            <p:spPr>
              <a:xfrm>
                <a:off x="0" y="0"/>
                <a:ext cx="127000" cy="127000"/>
              </a:xfrm>
              <a:custGeom>
                <a:avLst/>
                <a:gdLst/>
                <a:ahLst/>
                <a:cxnLst/>
                <a:rect l="l" t="t" r="r" b="b"/>
                <a:pathLst>
                  <a:path w="127000" h="127000">
                    <a:moveTo>
                      <a:pt x="63500" y="0"/>
                    </a:moveTo>
                    <a:cubicBezTo>
                      <a:pt x="98570" y="0"/>
                      <a:pt x="127000" y="28430"/>
                      <a:pt x="127000" y="63500"/>
                    </a:cubicBezTo>
                    <a:cubicBezTo>
                      <a:pt x="127000" y="98570"/>
                      <a:pt x="98570" y="127000"/>
                      <a:pt x="63500" y="127000"/>
                    </a:cubicBezTo>
                    <a:cubicBezTo>
                      <a:pt x="28430" y="127000"/>
                      <a:pt x="0" y="98570"/>
                      <a:pt x="0" y="63500"/>
                    </a:cubicBezTo>
                    <a:cubicBezTo>
                      <a:pt x="0" y="28430"/>
                      <a:pt x="28430" y="0"/>
                      <a:pt x="63500" y="0"/>
                    </a:cubicBezTo>
                    <a:close/>
                  </a:path>
                </a:pathLst>
              </a:custGeom>
              <a:solidFill>
                <a:srgbClr val="7FC8F8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s-CL"/>
              </a:p>
            </p:txBody>
          </p:sp>
        </p:grpSp>
        <p:sp>
          <p:nvSpPr>
            <p:cNvPr id="42" name="TextBox 42"/>
            <p:cNvSpPr txBox="1"/>
            <p:nvPr/>
          </p:nvSpPr>
          <p:spPr>
            <a:xfrm>
              <a:off x="965200" y="3699510"/>
              <a:ext cx="8940800" cy="29083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889"/>
                </a:lnSpc>
              </a:pPr>
              <a:r>
                <a:rPr lang="en-US" sz="1350">
                  <a:solidFill>
                    <a:srgbClr val="F4F6FA"/>
                  </a:solidFill>
                  <a:latin typeface="Inter"/>
                  <a:ea typeface="Inter"/>
                  <a:cs typeface="Inter"/>
                  <a:sym typeface="Inter"/>
                </a:rPr>
                <a:t>Comunicación al cliente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C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143000" y="571500"/>
            <a:ext cx="457200" cy="38100"/>
            <a:chOff x="0" y="0"/>
            <a:chExt cx="609600" cy="50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09600" cy="50800"/>
            </a:xfrm>
            <a:custGeom>
              <a:avLst/>
              <a:gdLst/>
              <a:ahLst/>
              <a:cxnLst/>
              <a:rect l="l" t="t" r="r" b="b"/>
              <a:pathLst>
                <a:path w="609600" h="50800">
                  <a:moveTo>
                    <a:pt x="0" y="0"/>
                  </a:moveTo>
                  <a:lnTo>
                    <a:pt x="609600" y="0"/>
                  </a:lnTo>
                  <a:lnTo>
                    <a:pt x="609600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7FC8F8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609600" cy="88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790700" y="400050"/>
            <a:ext cx="1905000" cy="2228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b="1" spc="405">
                <a:solidFill>
                  <a:srgbClr val="7FC8F8"/>
                </a:solidFill>
                <a:latin typeface="Inter Bold"/>
                <a:ea typeface="Inter Bold"/>
                <a:cs typeface="Inter Bold"/>
                <a:sym typeface="Inter Bold"/>
              </a:rPr>
              <a:t>04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2381250" y="400050"/>
            <a:ext cx="8572500" cy="2228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spc="270">
                <a:solidFill>
                  <a:srgbClr val="F4F6FA"/>
                </a:solidFill>
                <a:latin typeface="Inter"/>
                <a:ea typeface="Inter"/>
                <a:cs typeface="Inter"/>
                <a:sym typeface="Inter"/>
              </a:rPr>
              <a:t>Arquitectura y Tecnologías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143000" y="9696450"/>
            <a:ext cx="8572500" cy="1733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lang="en-US" sz="1050" spc="315">
                <a:solidFill>
                  <a:srgbClr val="6B7C93"/>
                </a:solidFill>
                <a:latin typeface="Inter"/>
                <a:ea typeface="Inter"/>
                <a:cs typeface="Inter"/>
                <a:sym typeface="Inter"/>
              </a:rPr>
              <a:t>STL · Capstone Fase 1 · Duoc UC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5240000" y="9696450"/>
            <a:ext cx="1905000" cy="1733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470"/>
              </a:lnSpc>
            </a:pPr>
            <a:r>
              <a:rPr lang="en-US" sz="1050" spc="315">
                <a:solidFill>
                  <a:srgbClr val="6B7C93"/>
                </a:solidFill>
                <a:latin typeface="Inter"/>
                <a:ea typeface="Inter"/>
                <a:cs typeface="Inter"/>
                <a:sym typeface="Inter"/>
              </a:rPr>
              <a:t>04 / 10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143000" y="1504950"/>
            <a:ext cx="4762500" cy="2228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b="1" spc="270">
                <a:solidFill>
                  <a:srgbClr val="7FC8F8"/>
                </a:solidFill>
                <a:latin typeface="Inter Bold"/>
                <a:ea typeface="Inter Bold"/>
                <a:cs typeface="Inter Bold"/>
                <a:sym typeface="Inter Bold"/>
              </a:rPr>
              <a:t>STACK TECNOLÓGICO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143000" y="1952625"/>
            <a:ext cx="15240000" cy="15259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940"/>
              </a:lnSpc>
            </a:pPr>
            <a:r>
              <a:rPr lang="en-US" sz="5400" b="1">
                <a:solidFill>
                  <a:srgbClr val="FFFFFF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Arquitectura moderna,</a:t>
            </a:r>
          </a:p>
          <a:p>
            <a:pPr algn="l">
              <a:lnSpc>
                <a:spcPts val="5940"/>
              </a:lnSpc>
            </a:pPr>
            <a:r>
              <a:rPr lang="en-US" sz="5400" b="1">
                <a:solidFill>
                  <a:srgbClr val="FFFFFF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desplegada en la nube.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143000" y="5210175"/>
            <a:ext cx="3048000" cy="2076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 b="1" spc="360">
                <a:solidFill>
                  <a:srgbClr val="7FC8F8"/>
                </a:solidFill>
                <a:latin typeface="Inter Bold"/>
                <a:ea typeface="Inter Bold"/>
                <a:cs typeface="Inter Bold"/>
                <a:sym typeface="Inter Bold"/>
              </a:rPr>
              <a:t>FRONTEND WEB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4381500" y="5124450"/>
            <a:ext cx="4762500" cy="4210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9"/>
              </a:lnSpc>
            </a:pPr>
            <a:r>
              <a:rPr lang="en-US" sz="2550" b="1">
                <a:solidFill>
                  <a:srgbClr val="FFFFFF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Angular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525000" y="5200650"/>
            <a:ext cx="7620000" cy="266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>
                <a:solidFill>
                  <a:srgbClr val="F4F6FA"/>
                </a:solidFill>
                <a:latin typeface="Inter"/>
                <a:ea typeface="Inter"/>
                <a:cs typeface="Inter"/>
                <a:sym typeface="Inter"/>
              </a:rPr>
              <a:t>Panel administrativo SPA</a:t>
            </a:r>
          </a:p>
        </p:txBody>
      </p:sp>
      <p:sp>
        <p:nvSpPr>
          <p:cNvPr id="14" name="AutoShape 14"/>
          <p:cNvSpPr/>
          <p:nvPr/>
        </p:nvSpPr>
        <p:spPr>
          <a:xfrm>
            <a:off x="1143000" y="4953000"/>
            <a:ext cx="16002000" cy="0"/>
          </a:xfrm>
          <a:prstGeom prst="line">
            <a:avLst/>
          </a:prstGeom>
          <a:ln w="9525" cap="flat">
            <a:solidFill>
              <a:srgbClr val="1E3A5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CL"/>
          </a:p>
        </p:txBody>
      </p:sp>
      <p:sp>
        <p:nvSpPr>
          <p:cNvPr id="15" name="TextBox 15"/>
          <p:cNvSpPr txBox="1"/>
          <p:nvPr/>
        </p:nvSpPr>
        <p:spPr>
          <a:xfrm>
            <a:off x="1143000" y="6086475"/>
            <a:ext cx="3048000" cy="2076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 b="1" spc="360">
                <a:solidFill>
                  <a:srgbClr val="7FC8F8"/>
                </a:solidFill>
                <a:latin typeface="Inter Bold"/>
                <a:ea typeface="Inter Bold"/>
                <a:cs typeface="Inter Bold"/>
                <a:sym typeface="Inter Bold"/>
              </a:rPr>
              <a:t>MÓVIL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4381500" y="6000750"/>
            <a:ext cx="4762500" cy="4210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9"/>
              </a:lnSpc>
            </a:pPr>
            <a:r>
              <a:rPr lang="en-US" sz="2550" b="1">
                <a:solidFill>
                  <a:srgbClr val="FFFFFF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Kotlin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9525000" y="6076950"/>
            <a:ext cx="7620000" cy="266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>
                <a:solidFill>
                  <a:srgbClr val="F4F6FA"/>
                </a:solidFill>
                <a:latin typeface="Inter"/>
                <a:ea typeface="Inter"/>
                <a:cs typeface="Inter"/>
                <a:sym typeface="Inter"/>
              </a:rPr>
              <a:t>App nativa Android · Room DB</a:t>
            </a:r>
          </a:p>
        </p:txBody>
      </p:sp>
      <p:sp>
        <p:nvSpPr>
          <p:cNvPr id="18" name="AutoShape 18"/>
          <p:cNvSpPr/>
          <p:nvPr/>
        </p:nvSpPr>
        <p:spPr>
          <a:xfrm>
            <a:off x="1143000" y="5829300"/>
            <a:ext cx="16002000" cy="0"/>
          </a:xfrm>
          <a:prstGeom prst="line">
            <a:avLst/>
          </a:prstGeom>
          <a:ln w="9525" cap="flat">
            <a:solidFill>
              <a:srgbClr val="1E3A5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CL"/>
          </a:p>
        </p:txBody>
      </p:sp>
      <p:sp>
        <p:nvSpPr>
          <p:cNvPr id="19" name="TextBox 19"/>
          <p:cNvSpPr txBox="1"/>
          <p:nvPr/>
        </p:nvSpPr>
        <p:spPr>
          <a:xfrm>
            <a:off x="1143000" y="6962775"/>
            <a:ext cx="3048000" cy="2076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 b="1" spc="360">
                <a:solidFill>
                  <a:srgbClr val="7FC8F8"/>
                </a:solidFill>
                <a:latin typeface="Inter Bold"/>
                <a:ea typeface="Inter Bold"/>
                <a:cs typeface="Inter Bold"/>
                <a:sym typeface="Inter Bold"/>
              </a:rPr>
              <a:t>BACKEND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4381500" y="6877050"/>
            <a:ext cx="4762500" cy="4210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9"/>
              </a:lnSpc>
            </a:pPr>
            <a:r>
              <a:rPr lang="en-US" sz="2550" b="1">
                <a:solidFill>
                  <a:srgbClr val="FFFFFF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Django REST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9525000" y="6953250"/>
            <a:ext cx="7620000" cy="266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>
                <a:solidFill>
                  <a:srgbClr val="F4F6FA"/>
                </a:solidFill>
                <a:latin typeface="Inter"/>
                <a:ea typeface="Inter"/>
                <a:cs typeface="Inter"/>
                <a:sym typeface="Inter"/>
              </a:rPr>
              <a:t>API en Python · lógica de negocio</a:t>
            </a:r>
          </a:p>
        </p:txBody>
      </p:sp>
      <p:sp>
        <p:nvSpPr>
          <p:cNvPr id="22" name="AutoShape 22"/>
          <p:cNvSpPr/>
          <p:nvPr/>
        </p:nvSpPr>
        <p:spPr>
          <a:xfrm>
            <a:off x="1143000" y="6705600"/>
            <a:ext cx="16002000" cy="0"/>
          </a:xfrm>
          <a:prstGeom prst="line">
            <a:avLst/>
          </a:prstGeom>
          <a:ln w="9525" cap="flat">
            <a:solidFill>
              <a:srgbClr val="1E3A5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CL"/>
          </a:p>
        </p:txBody>
      </p:sp>
      <p:sp>
        <p:nvSpPr>
          <p:cNvPr id="23" name="TextBox 23"/>
          <p:cNvSpPr txBox="1"/>
          <p:nvPr/>
        </p:nvSpPr>
        <p:spPr>
          <a:xfrm>
            <a:off x="1143000" y="7839075"/>
            <a:ext cx="3048000" cy="2076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 b="1" spc="360">
                <a:solidFill>
                  <a:srgbClr val="7FC8F8"/>
                </a:solidFill>
                <a:latin typeface="Inter Bold"/>
                <a:ea typeface="Inter Bold"/>
                <a:cs typeface="Inter Bold"/>
                <a:sym typeface="Inter Bold"/>
              </a:rPr>
              <a:t>DATOS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4381500" y="7753350"/>
            <a:ext cx="4762500" cy="4210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9"/>
              </a:lnSpc>
            </a:pPr>
            <a:r>
              <a:rPr lang="en-US" sz="2550" b="1">
                <a:solidFill>
                  <a:srgbClr val="FFFFFF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MySQL · AWS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9525000" y="7829550"/>
            <a:ext cx="7620000" cy="266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>
                <a:solidFill>
                  <a:srgbClr val="F4F6FA"/>
                </a:solidFill>
                <a:latin typeface="Inter"/>
                <a:ea typeface="Inter"/>
                <a:cs typeface="Inter"/>
                <a:sym typeface="Inter"/>
              </a:rPr>
              <a:t>Base de datos gestionada en la nube</a:t>
            </a:r>
          </a:p>
        </p:txBody>
      </p:sp>
      <p:sp>
        <p:nvSpPr>
          <p:cNvPr id="26" name="AutoShape 26"/>
          <p:cNvSpPr/>
          <p:nvPr/>
        </p:nvSpPr>
        <p:spPr>
          <a:xfrm>
            <a:off x="1143000" y="7581900"/>
            <a:ext cx="16002000" cy="0"/>
          </a:xfrm>
          <a:prstGeom prst="line">
            <a:avLst/>
          </a:prstGeom>
          <a:ln w="9525" cap="flat">
            <a:solidFill>
              <a:srgbClr val="1E3A5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CL"/>
          </a:p>
        </p:txBody>
      </p:sp>
      <p:sp>
        <p:nvSpPr>
          <p:cNvPr id="27" name="TextBox 27"/>
          <p:cNvSpPr txBox="1"/>
          <p:nvPr/>
        </p:nvSpPr>
        <p:spPr>
          <a:xfrm>
            <a:off x="1143000" y="8715375"/>
            <a:ext cx="3048000" cy="2076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 b="1" spc="360">
                <a:solidFill>
                  <a:srgbClr val="7FC8F8"/>
                </a:solidFill>
                <a:latin typeface="Inter Bold"/>
                <a:ea typeface="Inter Bold"/>
                <a:cs typeface="Inter Bold"/>
                <a:sym typeface="Inter Bold"/>
              </a:rPr>
              <a:t>ORQUESTACIÓN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4381500" y="8629650"/>
            <a:ext cx="4762500" cy="4210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9"/>
              </a:lnSpc>
            </a:pPr>
            <a:r>
              <a:rPr lang="en-US" sz="2550" b="1">
                <a:solidFill>
                  <a:srgbClr val="FFFFFF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Docker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9525000" y="8705850"/>
            <a:ext cx="7620000" cy="266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>
                <a:solidFill>
                  <a:srgbClr val="F4F6FA"/>
                </a:solidFill>
                <a:latin typeface="Inter"/>
                <a:ea typeface="Inter"/>
                <a:cs typeface="Inter"/>
                <a:sym typeface="Inter"/>
              </a:rPr>
              <a:t>Contenedores · despliegue reproducible</a:t>
            </a:r>
          </a:p>
        </p:txBody>
      </p:sp>
      <p:sp>
        <p:nvSpPr>
          <p:cNvPr id="30" name="AutoShape 30"/>
          <p:cNvSpPr/>
          <p:nvPr/>
        </p:nvSpPr>
        <p:spPr>
          <a:xfrm>
            <a:off x="1143000" y="8458200"/>
            <a:ext cx="16002000" cy="0"/>
          </a:xfrm>
          <a:prstGeom prst="line">
            <a:avLst/>
          </a:prstGeom>
          <a:ln w="9525" cap="flat">
            <a:solidFill>
              <a:srgbClr val="1E3A5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CL"/>
          </a:p>
        </p:txBody>
      </p:sp>
      <p:sp>
        <p:nvSpPr>
          <p:cNvPr id="31" name="AutoShape 31"/>
          <p:cNvSpPr/>
          <p:nvPr/>
        </p:nvSpPr>
        <p:spPr>
          <a:xfrm>
            <a:off x="1143000" y="9334500"/>
            <a:ext cx="16002000" cy="0"/>
          </a:xfrm>
          <a:prstGeom prst="line">
            <a:avLst/>
          </a:prstGeom>
          <a:ln w="9525" cap="flat">
            <a:solidFill>
              <a:srgbClr val="1E3A5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CL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143000" y="571500"/>
            <a:ext cx="457200" cy="38100"/>
            <a:chOff x="0" y="0"/>
            <a:chExt cx="609600" cy="50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09600" cy="50800"/>
            </a:xfrm>
            <a:custGeom>
              <a:avLst/>
              <a:gdLst/>
              <a:ahLst/>
              <a:cxnLst/>
              <a:rect l="l" t="t" r="r" b="b"/>
              <a:pathLst>
                <a:path w="609600" h="50800">
                  <a:moveTo>
                    <a:pt x="0" y="0"/>
                  </a:moveTo>
                  <a:lnTo>
                    <a:pt x="609600" y="0"/>
                  </a:lnTo>
                  <a:lnTo>
                    <a:pt x="609600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4EA8DE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609600" cy="88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790700" y="400050"/>
            <a:ext cx="1905000" cy="2228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b="1" spc="405">
                <a:solidFill>
                  <a:srgbClr val="4EA8DE"/>
                </a:solidFill>
                <a:latin typeface="Inter Bold"/>
                <a:ea typeface="Inter Bold"/>
                <a:cs typeface="Inter Bold"/>
                <a:sym typeface="Inter Bold"/>
              </a:rPr>
              <a:t>05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2381250" y="400050"/>
            <a:ext cx="8572500" cy="2228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spc="270">
                <a:solidFill>
                  <a:srgbClr val="1E3A5F"/>
                </a:solidFill>
                <a:latin typeface="Inter"/>
                <a:ea typeface="Inter"/>
                <a:cs typeface="Inter"/>
                <a:sym typeface="Inter"/>
              </a:rPr>
              <a:t>Objetivos del Proyecto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143000" y="9696450"/>
            <a:ext cx="8572500" cy="1733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lang="en-US" sz="1050" spc="315">
                <a:solidFill>
                  <a:srgbClr val="6B7C93"/>
                </a:solidFill>
                <a:latin typeface="Inter"/>
                <a:ea typeface="Inter"/>
                <a:cs typeface="Inter"/>
                <a:sym typeface="Inter"/>
              </a:rPr>
              <a:t>STL · Capstone Fase 1 · Duoc UC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5240000" y="9696450"/>
            <a:ext cx="1905000" cy="1733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470"/>
              </a:lnSpc>
            </a:pPr>
            <a:r>
              <a:rPr lang="en-US" sz="1050" spc="315">
                <a:solidFill>
                  <a:srgbClr val="6B7C93"/>
                </a:solidFill>
                <a:latin typeface="Inter"/>
                <a:ea typeface="Inter"/>
                <a:cs typeface="Inter"/>
                <a:sym typeface="Inter"/>
              </a:rPr>
              <a:t>05 / 10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143000" y="1485900"/>
            <a:ext cx="4762500" cy="266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b="1" spc="300">
                <a:solidFill>
                  <a:srgbClr val="4EA8DE"/>
                </a:solidFill>
                <a:latin typeface="Inter Bold"/>
                <a:ea typeface="Inter Bold"/>
                <a:cs typeface="Inter Bold"/>
                <a:sym typeface="Inter Bold"/>
              </a:rPr>
              <a:t>OBJETIVO GENERAL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143000" y="2600325"/>
            <a:ext cx="1905000" cy="2200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500"/>
              </a:lnSpc>
            </a:pPr>
            <a:r>
              <a:rPr lang="en-US" sz="16500" b="1">
                <a:solidFill>
                  <a:srgbClr val="4EA8DE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“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143000" y="3609975"/>
            <a:ext cx="14287500" cy="1981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20"/>
              </a:lnSpc>
            </a:pPr>
            <a:r>
              <a:rPr lang="en-US" sz="4350" b="1">
                <a:solidFill>
                  <a:srgbClr val="0B1C33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Optimizar y centralizar la gestión operativa de flotas de transporte terrestre en Chile mediante tecnología multiplataforma.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1143000" y="6353175"/>
            <a:ext cx="3786188" cy="857250"/>
            <a:chOff x="0" y="0"/>
            <a:chExt cx="5048250" cy="1143000"/>
          </a:xfrm>
        </p:grpSpPr>
        <p:grpSp>
          <p:nvGrpSpPr>
            <p:cNvPr id="13" name="Group 13"/>
            <p:cNvGrpSpPr/>
            <p:nvPr/>
          </p:nvGrpSpPr>
          <p:grpSpPr>
            <a:xfrm>
              <a:off x="0" y="0"/>
              <a:ext cx="5048250" cy="1143000"/>
              <a:chOff x="0" y="0"/>
              <a:chExt cx="5048250" cy="1143000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0" y="0"/>
                <a:ext cx="5048250" cy="1143000"/>
              </a:xfrm>
              <a:custGeom>
                <a:avLst/>
                <a:gdLst/>
                <a:ahLst/>
                <a:cxnLst/>
                <a:rect l="l" t="t" r="r" b="b"/>
                <a:pathLst>
                  <a:path w="5048250" h="1143000">
                    <a:moveTo>
                      <a:pt x="0" y="0"/>
                    </a:moveTo>
                    <a:lnTo>
                      <a:pt x="5048250" y="0"/>
                    </a:lnTo>
                    <a:lnTo>
                      <a:pt x="5048250" y="1143000"/>
                    </a:lnTo>
                    <a:lnTo>
                      <a:pt x="0" y="1143000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sq">
                <a:solidFill>
                  <a:srgbClr val="D5DDE8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s-CL"/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0" y="-38100"/>
                <a:ext cx="5048250" cy="11811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grpSp>
          <p:nvGrpSpPr>
            <p:cNvPr id="16" name="Group 16"/>
            <p:cNvGrpSpPr/>
            <p:nvPr/>
          </p:nvGrpSpPr>
          <p:grpSpPr>
            <a:xfrm>
              <a:off x="0" y="0"/>
              <a:ext cx="76200" cy="1143000"/>
              <a:chOff x="0" y="0"/>
              <a:chExt cx="76200" cy="1143000"/>
            </a:xfrm>
          </p:grpSpPr>
          <p:sp>
            <p:nvSpPr>
              <p:cNvPr id="17" name="Freeform 17"/>
              <p:cNvSpPr/>
              <p:nvPr/>
            </p:nvSpPr>
            <p:spPr>
              <a:xfrm>
                <a:off x="0" y="0"/>
                <a:ext cx="76200" cy="1143000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1143000">
                    <a:moveTo>
                      <a:pt x="0" y="0"/>
                    </a:moveTo>
                    <a:lnTo>
                      <a:pt x="76200" y="0"/>
                    </a:lnTo>
                    <a:lnTo>
                      <a:pt x="76200" y="1143000"/>
                    </a:lnTo>
                    <a:lnTo>
                      <a:pt x="0" y="1143000"/>
                    </a:lnTo>
                    <a:close/>
                  </a:path>
                </a:pathLst>
              </a:custGeom>
              <a:solidFill>
                <a:srgbClr val="4EA8DE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s-CL"/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0" y="-38100"/>
                <a:ext cx="76200" cy="11811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19" name="TextBox 19"/>
            <p:cNvSpPr txBox="1"/>
            <p:nvPr/>
          </p:nvSpPr>
          <p:spPr>
            <a:xfrm>
              <a:off x="304800" y="342900"/>
              <a:ext cx="4438650" cy="36322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310"/>
                </a:lnSpc>
              </a:pPr>
              <a:r>
                <a:rPr lang="en-US" sz="1650" b="1">
                  <a:solidFill>
                    <a:srgbClr val="0B1C33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Optimización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5214938" y="6353175"/>
            <a:ext cx="3786188" cy="857250"/>
            <a:chOff x="0" y="0"/>
            <a:chExt cx="5048250" cy="1143000"/>
          </a:xfrm>
        </p:grpSpPr>
        <p:grpSp>
          <p:nvGrpSpPr>
            <p:cNvPr id="21" name="Group 21"/>
            <p:cNvGrpSpPr/>
            <p:nvPr/>
          </p:nvGrpSpPr>
          <p:grpSpPr>
            <a:xfrm>
              <a:off x="0" y="0"/>
              <a:ext cx="5048250" cy="1143000"/>
              <a:chOff x="0" y="0"/>
              <a:chExt cx="5048250" cy="1143000"/>
            </a:xfrm>
          </p:grpSpPr>
          <p:sp>
            <p:nvSpPr>
              <p:cNvPr id="22" name="Freeform 22"/>
              <p:cNvSpPr/>
              <p:nvPr/>
            </p:nvSpPr>
            <p:spPr>
              <a:xfrm>
                <a:off x="0" y="0"/>
                <a:ext cx="5048250" cy="1143000"/>
              </a:xfrm>
              <a:custGeom>
                <a:avLst/>
                <a:gdLst/>
                <a:ahLst/>
                <a:cxnLst/>
                <a:rect l="l" t="t" r="r" b="b"/>
                <a:pathLst>
                  <a:path w="5048250" h="1143000">
                    <a:moveTo>
                      <a:pt x="0" y="0"/>
                    </a:moveTo>
                    <a:lnTo>
                      <a:pt x="5048250" y="0"/>
                    </a:lnTo>
                    <a:lnTo>
                      <a:pt x="5048250" y="1143000"/>
                    </a:lnTo>
                    <a:lnTo>
                      <a:pt x="0" y="1143000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sq">
                <a:solidFill>
                  <a:srgbClr val="D5DDE8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s-CL"/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0" y="-38100"/>
                <a:ext cx="5048250" cy="11811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grpSp>
          <p:nvGrpSpPr>
            <p:cNvPr id="24" name="Group 24"/>
            <p:cNvGrpSpPr/>
            <p:nvPr/>
          </p:nvGrpSpPr>
          <p:grpSpPr>
            <a:xfrm>
              <a:off x="0" y="0"/>
              <a:ext cx="76200" cy="1143000"/>
              <a:chOff x="0" y="0"/>
              <a:chExt cx="76200" cy="1143000"/>
            </a:xfrm>
          </p:grpSpPr>
          <p:sp>
            <p:nvSpPr>
              <p:cNvPr id="25" name="Freeform 25"/>
              <p:cNvSpPr/>
              <p:nvPr/>
            </p:nvSpPr>
            <p:spPr>
              <a:xfrm>
                <a:off x="0" y="0"/>
                <a:ext cx="76200" cy="1143000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1143000">
                    <a:moveTo>
                      <a:pt x="0" y="0"/>
                    </a:moveTo>
                    <a:lnTo>
                      <a:pt x="76200" y="0"/>
                    </a:lnTo>
                    <a:lnTo>
                      <a:pt x="76200" y="1143000"/>
                    </a:lnTo>
                    <a:lnTo>
                      <a:pt x="0" y="1143000"/>
                    </a:lnTo>
                    <a:close/>
                  </a:path>
                </a:pathLst>
              </a:custGeom>
              <a:solidFill>
                <a:srgbClr val="4EA8DE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s-CL"/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0" y="-38100"/>
                <a:ext cx="76200" cy="11811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27" name="TextBox 27"/>
            <p:cNvSpPr txBox="1"/>
            <p:nvPr/>
          </p:nvSpPr>
          <p:spPr>
            <a:xfrm>
              <a:off x="304800" y="342900"/>
              <a:ext cx="4438650" cy="36322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310"/>
                </a:lnSpc>
              </a:pPr>
              <a:r>
                <a:rPr lang="en-US" sz="1650" b="1">
                  <a:solidFill>
                    <a:srgbClr val="0B1C33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Centralización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286875" y="6353175"/>
            <a:ext cx="3786188" cy="857250"/>
            <a:chOff x="0" y="0"/>
            <a:chExt cx="5048250" cy="1143000"/>
          </a:xfrm>
        </p:grpSpPr>
        <p:grpSp>
          <p:nvGrpSpPr>
            <p:cNvPr id="29" name="Group 29"/>
            <p:cNvGrpSpPr/>
            <p:nvPr/>
          </p:nvGrpSpPr>
          <p:grpSpPr>
            <a:xfrm>
              <a:off x="0" y="0"/>
              <a:ext cx="5048250" cy="1143000"/>
              <a:chOff x="0" y="0"/>
              <a:chExt cx="5048250" cy="1143000"/>
            </a:xfrm>
          </p:grpSpPr>
          <p:sp>
            <p:nvSpPr>
              <p:cNvPr id="30" name="Freeform 30"/>
              <p:cNvSpPr/>
              <p:nvPr/>
            </p:nvSpPr>
            <p:spPr>
              <a:xfrm>
                <a:off x="0" y="0"/>
                <a:ext cx="5048250" cy="1143000"/>
              </a:xfrm>
              <a:custGeom>
                <a:avLst/>
                <a:gdLst/>
                <a:ahLst/>
                <a:cxnLst/>
                <a:rect l="l" t="t" r="r" b="b"/>
                <a:pathLst>
                  <a:path w="5048250" h="1143000">
                    <a:moveTo>
                      <a:pt x="0" y="0"/>
                    </a:moveTo>
                    <a:lnTo>
                      <a:pt x="5048250" y="0"/>
                    </a:lnTo>
                    <a:lnTo>
                      <a:pt x="5048250" y="1143000"/>
                    </a:lnTo>
                    <a:lnTo>
                      <a:pt x="0" y="1143000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sq">
                <a:solidFill>
                  <a:srgbClr val="D5DDE8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s-CL"/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0" y="-38100"/>
                <a:ext cx="5048250" cy="11811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grpSp>
          <p:nvGrpSpPr>
            <p:cNvPr id="32" name="Group 32"/>
            <p:cNvGrpSpPr/>
            <p:nvPr/>
          </p:nvGrpSpPr>
          <p:grpSpPr>
            <a:xfrm>
              <a:off x="0" y="0"/>
              <a:ext cx="76200" cy="1143000"/>
              <a:chOff x="0" y="0"/>
              <a:chExt cx="76200" cy="1143000"/>
            </a:xfrm>
          </p:grpSpPr>
          <p:sp>
            <p:nvSpPr>
              <p:cNvPr id="33" name="Freeform 33"/>
              <p:cNvSpPr/>
              <p:nvPr/>
            </p:nvSpPr>
            <p:spPr>
              <a:xfrm>
                <a:off x="0" y="0"/>
                <a:ext cx="76200" cy="1143000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1143000">
                    <a:moveTo>
                      <a:pt x="0" y="0"/>
                    </a:moveTo>
                    <a:lnTo>
                      <a:pt x="76200" y="0"/>
                    </a:lnTo>
                    <a:lnTo>
                      <a:pt x="76200" y="1143000"/>
                    </a:lnTo>
                    <a:lnTo>
                      <a:pt x="0" y="1143000"/>
                    </a:lnTo>
                    <a:close/>
                  </a:path>
                </a:pathLst>
              </a:custGeom>
              <a:solidFill>
                <a:srgbClr val="4EA8DE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s-CL"/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0" y="-38100"/>
                <a:ext cx="76200" cy="11811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35" name="TextBox 35"/>
            <p:cNvSpPr txBox="1"/>
            <p:nvPr/>
          </p:nvSpPr>
          <p:spPr>
            <a:xfrm>
              <a:off x="304800" y="342900"/>
              <a:ext cx="4438650" cy="36322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310"/>
                </a:lnSpc>
              </a:pPr>
              <a:r>
                <a:rPr lang="en-US" sz="1650" b="1">
                  <a:solidFill>
                    <a:srgbClr val="0B1C33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Multiplataforma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13358812" y="6353175"/>
            <a:ext cx="3786188" cy="857250"/>
            <a:chOff x="0" y="0"/>
            <a:chExt cx="5048250" cy="1143000"/>
          </a:xfrm>
        </p:grpSpPr>
        <p:grpSp>
          <p:nvGrpSpPr>
            <p:cNvPr id="37" name="Group 37"/>
            <p:cNvGrpSpPr/>
            <p:nvPr/>
          </p:nvGrpSpPr>
          <p:grpSpPr>
            <a:xfrm>
              <a:off x="0" y="0"/>
              <a:ext cx="5048250" cy="1143000"/>
              <a:chOff x="0" y="0"/>
              <a:chExt cx="5048250" cy="1143000"/>
            </a:xfrm>
          </p:grpSpPr>
          <p:sp>
            <p:nvSpPr>
              <p:cNvPr id="38" name="Freeform 38"/>
              <p:cNvSpPr/>
              <p:nvPr/>
            </p:nvSpPr>
            <p:spPr>
              <a:xfrm>
                <a:off x="0" y="0"/>
                <a:ext cx="5048250" cy="1143000"/>
              </a:xfrm>
              <a:custGeom>
                <a:avLst/>
                <a:gdLst/>
                <a:ahLst/>
                <a:cxnLst/>
                <a:rect l="l" t="t" r="r" b="b"/>
                <a:pathLst>
                  <a:path w="5048250" h="1143000">
                    <a:moveTo>
                      <a:pt x="0" y="0"/>
                    </a:moveTo>
                    <a:lnTo>
                      <a:pt x="5048250" y="0"/>
                    </a:lnTo>
                    <a:lnTo>
                      <a:pt x="5048250" y="1143000"/>
                    </a:lnTo>
                    <a:lnTo>
                      <a:pt x="0" y="1143000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sq">
                <a:solidFill>
                  <a:srgbClr val="D5DDE8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s-CL"/>
              </a:p>
            </p:txBody>
          </p:sp>
          <p:sp>
            <p:nvSpPr>
              <p:cNvPr id="39" name="TextBox 39"/>
              <p:cNvSpPr txBox="1"/>
              <p:nvPr/>
            </p:nvSpPr>
            <p:spPr>
              <a:xfrm>
                <a:off x="0" y="-38100"/>
                <a:ext cx="5048250" cy="11811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grpSp>
          <p:nvGrpSpPr>
            <p:cNvPr id="40" name="Group 40"/>
            <p:cNvGrpSpPr/>
            <p:nvPr/>
          </p:nvGrpSpPr>
          <p:grpSpPr>
            <a:xfrm>
              <a:off x="0" y="0"/>
              <a:ext cx="76200" cy="1143000"/>
              <a:chOff x="0" y="0"/>
              <a:chExt cx="76200" cy="1143000"/>
            </a:xfrm>
          </p:grpSpPr>
          <p:sp>
            <p:nvSpPr>
              <p:cNvPr id="41" name="Freeform 41"/>
              <p:cNvSpPr/>
              <p:nvPr/>
            </p:nvSpPr>
            <p:spPr>
              <a:xfrm>
                <a:off x="0" y="0"/>
                <a:ext cx="76200" cy="1143000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1143000">
                    <a:moveTo>
                      <a:pt x="0" y="0"/>
                    </a:moveTo>
                    <a:lnTo>
                      <a:pt x="76200" y="0"/>
                    </a:lnTo>
                    <a:lnTo>
                      <a:pt x="76200" y="1143000"/>
                    </a:lnTo>
                    <a:lnTo>
                      <a:pt x="0" y="1143000"/>
                    </a:lnTo>
                    <a:close/>
                  </a:path>
                </a:pathLst>
              </a:custGeom>
              <a:solidFill>
                <a:srgbClr val="4EA8DE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s-CL"/>
              </a:p>
            </p:txBody>
          </p:sp>
          <p:sp>
            <p:nvSpPr>
              <p:cNvPr id="42" name="TextBox 42"/>
              <p:cNvSpPr txBox="1"/>
              <p:nvPr/>
            </p:nvSpPr>
            <p:spPr>
              <a:xfrm>
                <a:off x="0" y="-38100"/>
                <a:ext cx="76200" cy="11811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43" name="TextBox 43"/>
            <p:cNvSpPr txBox="1"/>
            <p:nvPr/>
          </p:nvSpPr>
          <p:spPr>
            <a:xfrm>
              <a:off x="304800" y="342900"/>
              <a:ext cx="4438650" cy="36322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310"/>
                </a:lnSpc>
              </a:pPr>
              <a:r>
                <a:rPr lang="en-US" sz="1650" b="1">
                  <a:solidFill>
                    <a:srgbClr val="0B1C33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Escalabilidad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143000" y="571500"/>
            <a:ext cx="457200" cy="38100"/>
            <a:chOff x="0" y="0"/>
            <a:chExt cx="609600" cy="50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09600" cy="50800"/>
            </a:xfrm>
            <a:custGeom>
              <a:avLst/>
              <a:gdLst/>
              <a:ahLst/>
              <a:cxnLst/>
              <a:rect l="l" t="t" r="r" b="b"/>
              <a:pathLst>
                <a:path w="609600" h="50800">
                  <a:moveTo>
                    <a:pt x="0" y="0"/>
                  </a:moveTo>
                  <a:lnTo>
                    <a:pt x="609600" y="0"/>
                  </a:lnTo>
                  <a:lnTo>
                    <a:pt x="609600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4EA8DE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609600" cy="88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790700" y="400050"/>
            <a:ext cx="1905000" cy="2228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b="1" spc="405">
                <a:solidFill>
                  <a:srgbClr val="4EA8DE"/>
                </a:solidFill>
                <a:latin typeface="Inter Bold"/>
                <a:ea typeface="Inter Bold"/>
                <a:cs typeface="Inter Bold"/>
                <a:sym typeface="Inter Bold"/>
              </a:rPr>
              <a:t>06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2381250" y="400050"/>
            <a:ext cx="8572500" cy="2228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spc="270">
                <a:solidFill>
                  <a:srgbClr val="1E3A5F"/>
                </a:solidFill>
                <a:latin typeface="Inter"/>
                <a:ea typeface="Inter"/>
                <a:cs typeface="Inter"/>
                <a:sym typeface="Inter"/>
              </a:rPr>
              <a:t>Metodología y Equipo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143000" y="9696450"/>
            <a:ext cx="8572500" cy="1733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lang="en-US" sz="1050" spc="315">
                <a:solidFill>
                  <a:srgbClr val="6B7C93"/>
                </a:solidFill>
                <a:latin typeface="Inter"/>
                <a:ea typeface="Inter"/>
                <a:cs typeface="Inter"/>
                <a:sym typeface="Inter"/>
              </a:rPr>
              <a:t>STL · Capstone Fase 1 · Duoc UC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5240000" y="9696450"/>
            <a:ext cx="1905000" cy="1733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470"/>
              </a:lnSpc>
            </a:pPr>
            <a:r>
              <a:rPr lang="en-US" sz="1050" spc="315">
                <a:solidFill>
                  <a:srgbClr val="6B7C93"/>
                </a:solidFill>
                <a:latin typeface="Inter"/>
                <a:ea typeface="Inter"/>
                <a:cs typeface="Inter"/>
                <a:sym typeface="Inter"/>
              </a:rPr>
              <a:t>06 / 10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143000" y="1485900"/>
            <a:ext cx="3810000" cy="266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b="1" spc="300">
                <a:solidFill>
                  <a:srgbClr val="4EA8DE"/>
                </a:solidFill>
                <a:latin typeface="Inter Bold"/>
                <a:ea typeface="Inter Bold"/>
                <a:cs typeface="Inter Bold"/>
                <a:sym typeface="Inter Bold"/>
              </a:rPr>
              <a:t>METODOLOGÍA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143000" y="1952625"/>
            <a:ext cx="8572500" cy="15259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940"/>
              </a:lnSpc>
            </a:pPr>
            <a:r>
              <a:rPr lang="en-US" sz="5400" b="1">
                <a:solidFill>
                  <a:srgbClr val="0B1C33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Kanban ágil,</a:t>
            </a:r>
          </a:p>
          <a:p>
            <a:pPr algn="l">
              <a:lnSpc>
                <a:spcPts val="5940"/>
              </a:lnSpc>
            </a:pPr>
            <a:r>
              <a:rPr lang="en-US" sz="5400" b="1">
                <a:solidFill>
                  <a:srgbClr val="0B1C33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roles claros.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143000" y="3726180"/>
            <a:ext cx="6667500" cy="6229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lang="en-US" sz="1650">
                <a:solidFill>
                  <a:srgbClr val="1E3A5F"/>
                </a:solidFill>
                <a:latin typeface="Inter"/>
                <a:ea typeface="Inter"/>
                <a:cs typeface="Inter"/>
                <a:sym typeface="Inter"/>
              </a:rPr>
              <a:t>Flujo de trabajo continuo con tablero visual, priorización dinámica y entregas incrementales para mantener el ritmo del proyecto.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1143000" y="4730115"/>
            <a:ext cx="1905000" cy="952500"/>
            <a:chOff x="0" y="0"/>
            <a:chExt cx="2540000" cy="12700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540000" cy="1270000"/>
            </a:xfrm>
            <a:custGeom>
              <a:avLst/>
              <a:gdLst/>
              <a:ahLst/>
              <a:cxnLst/>
              <a:rect l="l" t="t" r="r" b="b"/>
              <a:pathLst>
                <a:path w="2540000" h="1270000">
                  <a:moveTo>
                    <a:pt x="0" y="0"/>
                  </a:moveTo>
                  <a:lnTo>
                    <a:pt x="2540000" y="0"/>
                  </a:lnTo>
                  <a:lnTo>
                    <a:pt x="2540000" y="1270000"/>
                  </a:lnTo>
                  <a:lnTo>
                    <a:pt x="0" y="1270000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D5DDE8"/>
              </a:solidFill>
              <a:prstDash val="solid"/>
              <a:miter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38100"/>
              <a:ext cx="2540000" cy="1308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3238500" y="4730115"/>
            <a:ext cx="1905000" cy="952500"/>
            <a:chOff x="0" y="0"/>
            <a:chExt cx="2540000" cy="12700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2540000" cy="1270000"/>
            </a:xfrm>
            <a:custGeom>
              <a:avLst/>
              <a:gdLst/>
              <a:ahLst/>
              <a:cxnLst/>
              <a:rect l="l" t="t" r="r" b="b"/>
              <a:pathLst>
                <a:path w="2540000" h="1270000">
                  <a:moveTo>
                    <a:pt x="0" y="0"/>
                  </a:moveTo>
                  <a:lnTo>
                    <a:pt x="2540000" y="0"/>
                  </a:lnTo>
                  <a:lnTo>
                    <a:pt x="2540000" y="1270000"/>
                  </a:lnTo>
                  <a:lnTo>
                    <a:pt x="0" y="1270000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D5DDE8"/>
              </a:solidFill>
              <a:prstDash val="solid"/>
              <a:miter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38100"/>
              <a:ext cx="2540000" cy="1308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5334000" y="4730115"/>
            <a:ext cx="1905000" cy="952500"/>
            <a:chOff x="0" y="0"/>
            <a:chExt cx="2540000" cy="127000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2540000" cy="1270000"/>
            </a:xfrm>
            <a:custGeom>
              <a:avLst/>
              <a:gdLst/>
              <a:ahLst/>
              <a:cxnLst/>
              <a:rect l="l" t="t" r="r" b="b"/>
              <a:pathLst>
                <a:path w="2540000" h="1270000">
                  <a:moveTo>
                    <a:pt x="0" y="0"/>
                  </a:moveTo>
                  <a:lnTo>
                    <a:pt x="2540000" y="0"/>
                  </a:lnTo>
                  <a:lnTo>
                    <a:pt x="2540000" y="1270000"/>
                  </a:lnTo>
                  <a:lnTo>
                    <a:pt x="0" y="1270000"/>
                  </a:lnTo>
                  <a:close/>
                </a:path>
              </a:pathLst>
            </a:custGeom>
            <a:solidFill>
              <a:srgbClr val="4EA8DE"/>
            </a:solidFill>
            <a:ln w="9525" cap="sq">
              <a:solidFill>
                <a:srgbClr val="D5DDE8"/>
              </a:solidFill>
              <a:prstDash val="solid"/>
              <a:miter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0" y="-38100"/>
              <a:ext cx="2540000" cy="1308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21" name="TextBox 21"/>
          <p:cNvSpPr txBox="1"/>
          <p:nvPr/>
        </p:nvSpPr>
        <p:spPr>
          <a:xfrm>
            <a:off x="1143000" y="5073015"/>
            <a:ext cx="1905000" cy="2228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89"/>
              </a:lnSpc>
            </a:pPr>
            <a:r>
              <a:rPr lang="en-US" sz="1350" b="1" spc="405">
                <a:solidFill>
                  <a:srgbClr val="6B7C93"/>
                </a:solidFill>
                <a:latin typeface="Inter Bold"/>
                <a:ea typeface="Inter Bold"/>
                <a:cs typeface="Inter Bold"/>
                <a:sym typeface="Inter Bold"/>
              </a:rPr>
              <a:t>TO DO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3238500" y="5073015"/>
            <a:ext cx="1905000" cy="2228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89"/>
              </a:lnSpc>
            </a:pPr>
            <a:r>
              <a:rPr lang="en-US" sz="1350" b="1" spc="405">
                <a:solidFill>
                  <a:srgbClr val="0B1C33"/>
                </a:solidFill>
                <a:latin typeface="Inter Bold"/>
                <a:ea typeface="Inter Bold"/>
                <a:cs typeface="Inter Bold"/>
                <a:sym typeface="Inter Bold"/>
              </a:rPr>
              <a:t>DOING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5334000" y="5073015"/>
            <a:ext cx="1905000" cy="2228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89"/>
              </a:lnSpc>
            </a:pPr>
            <a:r>
              <a:rPr lang="en-US" sz="1350" b="1" spc="405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DONE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0287000" y="1485900"/>
            <a:ext cx="2857500" cy="266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b="1" spc="300">
                <a:solidFill>
                  <a:srgbClr val="4EA8DE"/>
                </a:solidFill>
                <a:latin typeface="Inter Bold"/>
                <a:ea typeface="Inter Bold"/>
                <a:cs typeface="Inter Bold"/>
                <a:sym typeface="Inter Bold"/>
              </a:rPr>
              <a:t>EQUIPO</a:t>
            </a:r>
          </a:p>
        </p:txBody>
      </p:sp>
      <p:grpSp>
        <p:nvGrpSpPr>
          <p:cNvPr id="25" name="Group 25"/>
          <p:cNvGrpSpPr/>
          <p:nvPr/>
        </p:nvGrpSpPr>
        <p:grpSpPr>
          <a:xfrm>
            <a:off x="10287000" y="2571750"/>
            <a:ext cx="6858000" cy="762000"/>
            <a:chOff x="0" y="0"/>
            <a:chExt cx="9144000" cy="1016000"/>
          </a:xfrm>
        </p:grpSpPr>
        <p:grpSp>
          <p:nvGrpSpPr>
            <p:cNvPr id="26" name="Group 26"/>
            <p:cNvGrpSpPr/>
            <p:nvPr/>
          </p:nvGrpSpPr>
          <p:grpSpPr>
            <a:xfrm>
              <a:off x="0" y="0"/>
              <a:ext cx="914400" cy="914400"/>
              <a:chOff x="0" y="0"/>
              <a:chExt cx="914400" cy="914400"/>
            </a:xfrm>
          </p:grpSpPr>
          <p:sp>
            <p:nvSpPr>
              <p:cNvPr id="27" name="Freeform 27"/>
              <p:cNvSpPr/>
              <p:nvPr/>
            </p:nvSpPr>
            <p:spPr>
              <a:xfrm>
                <a:off x="0" y="0"/>
                <a:ext cx="914400" cy="914400"/>
              </a:xfrm>
              <a:custGeom>
                <a:avLst/>
                <a:gdLst/>
                <a:ahLst/>
                <a:cxnLst/>
                <a:rect l="l" t="t" r="r" b="b"/>
                <a:pathLst>
                  <a:path w="914400" h="914400">
                    <a:moveTo>
                      <a:pt x="457200" y="0"/>
                    </a:moveTo>
                    <a:cubicBezTo>
                      <a:pt x="709705" y="0"/>
                      <a:pt x="914400" y="204695"/>
                      <a:pt x="914400" y="457200"/>
                    </a:cubicBezTo>
                    <a:cubicBezTo>
                      <a:pt x="914400" y="709705"/>
                      <a:pt x="709705" y="914400"/>
                      <a:pt x="457200" y="914400"/>
                    </a:cubicBezTo>
                    <a:cubicBezTo>
                      <a:pt x="204695" y="914400"/>
                      <a:pt x="0" y="709705"/>
                      <a:pt x="0" y="457200"/>
                    </a:cubicBezTo>
                    <a:cubicBezTo>
                      <a:pt x="0" y="204695"/>
                      <a:pt x="204695" y="0"/>
                      <a:pt x="457200" y="0"/>
                    </a:cubicBezTo>
                    <a:close/>
                  </a:path>
                </a:pathLst>
              </a:custGeom>
              <a:solidFill>
                <a:srgbClr val="0B1C33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s-CL"/>
              </a:p>
            </p:txBody>
          </p:sp>
        </p:grpSp>
        <p:sp>
          <p:nvSpPr>
            <p:cNvPr id="28" name="TextBox 28"/>
            <p:cNvSpPr txBox="1"/>
            <p:nvPr/>
          </p:nvSpPr>
          <p:spPr>
            <a:xfrm>
              <a:off x="0" y="165100"/>
              <a:ext cx="914400" cy="36322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310"/>
                </a:lnSpc>
              </a:pPr>
              <a:r>
                <a:rPr lang="en-US" sz="1650" b="1">
                  <a:solidFill>
                    <a:srgbClr val="FFFFFF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AR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270000" y="139700"/>
              <a:ext cx="7874000" cy="4953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149"/>
                </a:lnSpc>
              </a:pPr>
              <a:r>
                <a:rPr lang="en-US" sz="2250" b="1">
                  <a:solidFill>
                    <a:srgbClr val="0B1C33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Andrés Rojas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270000" y="673100"/>
              <a:ext cx="7874000" cy="3429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en-US" sz="1500">
                  <a:solidFill>
                    <a:srgbClr val="6B7C93"/>
                  </a:solidFill>
                  <a:latin typeface="Inter"/>
                  <a:ea typeface="Inter"/>
                  <a:cs typeface="Inter"/>
                  <a:sym typeface="Inter"/>
                </a:rPr>
                <a:t>Arquitectura &amp; Backend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10287000" y="3810000"/>
            <a:ext cx="6858000" cy="762000"/>
            <a:chOff x="0" y="0"/>
            <a:chExt cx="9144000" cy="1016000"/>
          </a:xfrm>
        </p:grpSpPr>
        <p:grpSp>
          <p:nvGrpSpPr>
            <p:cNvPr id="32" name="Group 32"/>
            <p:cNvGrpSpPr/>
            <p:nvPr/>
          </p:nvGrpSpPr>
          <p:grpSpPr>
            <a:xfrm>
              <a:off x="0" y="0"/>
              <a:ext cx="914400" cy="914400"/>
              <a:chOff x="0" y="0"/>
              <a:chExt cx="914400" cy="914400"/>
            </a:xfrm>
          </p:grpSpPr>
          <p:sp>
            <p:nvSpPr>
              <p:cNvPr id="33" name="Freeform 33"/>
              <p:cNvSpPr/>
              <p:nvPr/>
            </p:nvSpPr>
            <p:spPr>
              <a:xfrm>
                <a:off x="0" y="0"/>
                <a:ext cx="914400" cy="914400"/>
              </a:xfrm>
              <a:custGeom>
                <a:avLst/>
                <a:gdLst/>
                <a:ahLst/>
                <a:cxnLst/>
                <a:rect l="l" t="t" r="r" b="b"/>
                <a:pathLst>
                  <a:path w="914400" h="914400">
                    <a:moveTo>
                      <a:pt x="457200" y="0"/>
                    </a:moveTo>
                    <a:cubicBezTo>
                      <a:pt x="709705" y="0"/>
                      <a:pt x="914400" y="204695"/>
                      <a:pt x="914400" y="457200"/>
                    </a:cubicBezTo>
                    <a:cubicBezTo>
                      <a:pt x="914400" y="709705"/>
                      <a:pt x="709705" y="914400"/>
                      <a:pt x="457200" y="914400"/>
                    </a:cubicBezTo>
                    <a:cubicBezTo>
                      <a:pt x="204695" y="914400"/>
                      <a:pt x="0" y="709705"/>
                      <a:pt x="0" y="457200"/>
                    </a:cubicBezTo>
                    <a:cubicBezTo>
                      <a:pt x="0" y="204695"/>
                      <a:pt x="204695" y="0"/>
                      <a:pt x="457200" y="0"/>
                    </a:cubicBezTo>
                    <a:close/>
                  </a:path>
                </a:pathLst>
              </a:custGeom>
              <a:solidFill>
                <a:srgbClr val="0B1C33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s-CL"/>
              </a:p>
            </p:txBody>
          </p:sp>
        </p:grpSp>
        <p:sp>
          <p:nvSpPr>
            <p:cNvPr id="34" name="TextBox 34"/>
            <p:cNvSpPr txBox="1"/>
            <p:nvPr/>
          </p:nvSpPr>
          <p:spPr>
            <a:xfrm>
              <a:off x="0" y="165100"/>
              <a:ext cx="914400" cy="36322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310"/>
                </a:lnSpc>
              </a:pPr>
              <a:r>
                <a:rPr lang="en-US" sz="1650" b="1">
                  <a:solidFill>
                    <a:srgbClr val="FFFFFF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EF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270000" y="139700"/>
              <a:ext cx="7874000" cy="4953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149"/>
                </a:lnSpc>
              </a:pPr>
              <a:r>
                <a:rPr lang="en-US" sz="2250" b="1">
                  <a:solidFill>
                    <a:srgbClr val="0B1C33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Eduardo Figueroa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270000" y="673100"/>
              <a:ext cx="7874000" cy="3429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en-US" sz="1500" dirty="0" err="1">
                  <a:solidFill>
                    <a:srgbClr val="6B7C93"/>
                  </a:solidFill>
                  <a:latin typeface="Inter"/>
                  <a:ea typeface="Inter"/>
                  <a:cs typeface="Inter"/>
                  <a:sym typeface="Inter"/>
                </a:rPr>
                <a:t>Gestión</a:t>
              </a:r>
              <a:r>
                <a:rPr lang="en-US" sz="1500" dirty="0">
                  <a:solidFill>
                    <a:srgbClr val="6B7C93"/>
                  </a:solidFill>
                  <a:latin typeface="Inter"/>
                  <a:ea typeface="Inter"/>
                  <a:cs typeface="Inter"/>
                  <a:sym typeface="Inter"/>
                </a:rPr>
                <a:t> &amp; Kanban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10287000" y="5048250"/>
            <a:ext cx="6858000" cy="762000"/>
            <a:chOff x="0" y="0"/>
            <a:chExt cx="9144000" cy="1016000"/>
          </a:xfrm>
        </p:grpSpPr>
        <p:grpSp>
          <p:nvGrpSpPr>
            <p:cNvPr id="38" name="Group 38"/>
            <p:cNvGrpSpPr/>
            <p:nvPr/>
          </p:nvGrpSpPr>
          <p:grpSpPr>
            <a:xfrm>
              <a:off x="0" y="0"/>
              <a:ext cx="914400" cy="914400"/>
              <a:chOff x="0" y="0"/>
              <a:chExt cx="914400" cy="914400"/>
            </a:xfrm>
          </p:grpSpPr>
          <p:sp>
            <p:nvSpPr>
              <p:cNvPr id="39" name="Freeform 39"/>
              <p:cNvSpPr/>
              <p:nvPr/>
            </p:nvSpPr>
            <p:spPr>
              <a:xfrm>
                <a:off x="0" y="0"/>
                <a:ext cx="914400" cy="914400"/>
              </a:xfrm>
              <a:custGeom>
                <a:avLst/>
                <a:gdLst/>
                <a:ahLst/>
                <a:cxnLst/>
                <a:rect l="l" t="t" r="r" b="b"/>
                <a:pathLst>
                  <a:path w="914400" h="914400">
                    <a:moveTo>
                      <a:pt x="457200" y="0"/>
                    </a:moveTo>
                    <a:cubicBezTo>
                      <a:pt x="709705" y="0"/>
                      <a:pt x="914400" y="204695"/>
                      <a:pt x="914400" y="457200"/>
                    </a:cubicBezTo>
                    <a:cubicBezTo>
                      <a:pt x="914400" y="709705"/>
                      <a:pt x="709705" y="914400"/>
                      <a:pt x="457200" y="914400"/>
                    </a:cubicBezTo>
                    <a:cubicBezTo>
                      <a:pt x="204695" y="914400"/>
                      <a:pt x="0" y="709705"/>
                      <a:pt x="0" y="457200"/>
                    </a:cubicBezTo>
                    <a:cubicBezTo>
                      <a:pt x="0" y="204695"/>
                      <a:pt x="204695" y="0"/>
                      <a:pt x="457200" y="0"/>
                    </a:cubicBezTo>
                    <a:close/>
                  </a:path>
                </a:pathLst>
              </a:custGeom>
              <a:solidFill>
                <a:srgbClr val="0B1C33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s-CL"/>
              </a:p>
            </p:txBody>
          </p:sp>
        </p:grpSp>
        <p:sp>
          <p:nvSpPr>
            <p:cNvPr id="40" name="TextBox 40"/>
            <p:cNvSpPr txBox="1"/>
            <p:nvPr/>
          </p:nvSpPr>
          <p:spPr>
            <a:xfrm>
              <a:off x="0" y="165100"/>
              <a:ext cx="914400" cy="36322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310"/>
                </a:lnSpc>
              </a:pPr>
              <a:r>
                <a:rPr lang="en-US" sz="1650" b="1">
                  <a:solidFill>
                    <a:srgbClr val="FFFFFF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MM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270000" y="139700"/>
              <a:ext cx="7874000" cy="4953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149"/>
                </a:lnSpc>
              </a:pPr>
              <a:r>
                <a:rPr lang="en-US" sz="2250" b="1">
                  <a:solidFill>
                    <a:srgbClr val="0B1C33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Manuel Molina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1270000" y="673100"/>
              <a:ext cx="7874000" cy="3429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en-US" sz="1500">
                  <a:solidFill>
                    <a:srgbClr val="6B7C93"/>
                  </a:solidFill>
                  <a:latin typeface="Inter"/>
                  <a:ea typeface="Inter"/>
                  <a:cs typeface="Inter"/>
                  <a:sym typeface="Inter"/>
                </a:rPr>
                <a:t>Frontend Web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10287000" y="6286500"/>
            <a:ext cx="6858000" cy="762000"/>
            <a:chOff x="0" y="0"/>
            <a:chExt cx="9144000" cy="1016000"/>
          </a:xfrm>
        </p:grpSpPr>
        <p:grpSp>
          <p:nvGrpSpPr>
            <p:cNvPr id="44" name="Group 44"/>
            <p:cNvGrpSpPr/>
            <p:nvPr/>
          </p:nvGrpSpPr>
          <p:grpSpPr>
            <a:xfrm>
              <a:off x="0" y="0"/>
              <a:ext cx="914400" cy="914400"/>
              <a:chOff x="0" y="0"/>
              <a:chExt cx="914400" cy="914400"/>
            </a:xfrm>
          </p:grpSpPr>
          <p:sp>
            <p:nvSpPr>
              <p:cNvPr id="45" name="Freeform 45"/>
              <p:cNvSpPr/>
              <p:nvPr/>
            </p:nvSpPr>
            <p:spPr>
              <a:xfrm>
                <a:off x="0" y="0"/>
                <a:ext cx="914400" cy="914400"/>
              </a:xfrm>
              <a:custGeom>
                <a:avLst/>
                <a:gdLst/>
                <a:ahLst/>
                <a:cxnLst/>
                <a:rect l="l" t="t" r="r" b="b"/>
                <a:pathLst>
                  <a:path w="914400" h="914400">
                    <a:moveTo>
                      <a:pt x="457200" y="0"/>
                    </a:moveTo>
                    <a:cubicBezTo>
                      <a:pt x="709705" y="0"/>
                      <a:pt x="914400" y="204695"/>
                      <a:pt x="914400" y="457200"/>
                    </a:cubicBezTo>
                    <a:cubicBezTo>
                      <a:pt x="914400" y="709705"/>
                      <a:pt x="709705" y="914400"/>
                      <a:pt x="457200" y="914400"/>
                    </a:cubicBezTo>
                    <a:cubicBezTo>
                      <a:pt x="204695" y="914400"/>
                      <a:pt x="0" y="709705"/>
                      <a:pt x="0" y="457200"/>
                    </a:cubicBezTo>
                    <a:cubicBezTo>
                      <a:pt x="0" y="204695"/>
                      <a:pt x="204695" y="0"/>
                      <a:pt x="457200" y="0"/>
                    </a:cubicBezTo>
                    <a:close/>
                  </a:path>
                </a:pathLst>
              </a:custGeom>
              <a:solidFill>
                <a:srgbClr val="0B1C33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s-CL"/>
              </a:p>
            </p:txBody>
          </p:sp>
        </p:grpSp>
        <p:sp>
          <p:nvSpPr>
            <p:cNvPr id="46" name="TextBox 46"/>
            <p:cNvSpPr txBox="1"/>
            <p:nvPr/>
          </p:nvSpPr>
          <p:spPr>
            <a:xfrm>
              <a:off x="0" y="165100"/>
              <a:ext cx="914400" cy="36322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310"/>
                </a:lnSpc>
              </a:pPr>
              <a:r>
                <a:rPr lang="en-US" sz="1650" b="1">
                  <a:solidFill>
                    <a:srgbClr val="FFFFFF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MO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270000" y="139700"/>
              <a:ext cx="7874000" cy="4953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149"/>
                </a:lnSpc>
              </a:pPr>
              <a:r>
                <a:rPr lang="en-US" sz="2250" b="1">
                  <a:solidFill>
                    <a:srgbClr val="0B1C33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Matías Oróstica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1270000" y="673100"/>
              <a:ext cx="7874000" cy="3429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en-US" sz="1500">
                  <a:solidFill>
                    <a:srgbClr val="6B7C93"/>
                  </a:solidFill>
                  <a:latin typeface="Inter"/>
                  <a:ea typeface="Inter"/>
                  <a:cs typeface="Inter"/>
                  <a:sym typeface="Inter"/>
                </a:rPr>
                <a:t>Móvil &amp; QA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C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143000" y="571500"/>
            <a:ext cx="457200" cy="38100"/>
            <a:chOff x="0" y="0"/>
            <a:chExt cx="609600" cy="50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09600" cy="50800"/>
            </a:xfrm>
            <a:custGeom>
              <a:avLst/>
              <a:gdLst/>
              <a:ahLst/>
              <a:cxnLst/>
              <a:rect l="l" t="t" r="r" b="b"/>
              <a:pathLst>
                <a:path w="609600" h="50800">
                  <a:moveTo>
                    <a:pt x="0" y="0"/>
                  </a:moveTo>
                  <a:lnTo>
                    <a:pt x="609600" y="0"/>
                  </a:lnTo>
                  <a:lnTo>
                    <a:pt x="609600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7FC8F8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609600" cy="88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790700" y="400050"/>
            <a:ext cx="1905000" cy="2228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b="1" spc="405">
                <a:solidFill>
                  <a:srgbClr val="7FC8F8"/>
                </a:solidFill>
                <a:latin typeface="Inter Bold"/>
                <a:ea typeface="Inter Bold"/>
                <a:cs typeface="Inter Bold"/>
                <a:sym typeface="Inter Bold"/>
              </a:rPr>
              <a:t>07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2381250" y="400050"/>
            <a:ext cx="8572500" cy="2228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spc="270">
                <a:solidFill>
                  <a:srgbClr val="F4F6FA"/>
                </a:solidFill>
                <a:latin typeface="Inter"/>
                <a:ea typeface="Inter"/>
                <a:cs typeface="Inter"/>
                <a:sym typeface="Inter"/>
              </a:rPr>
              <a:t>Matriz de Riesgos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143000" y="9696450"/>
            <a:ext cx="8572500" cy="1733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lang="en-US" sz="1050" spc="315">
                <a:solidFill>
                  <a:srgbClr val="6B7C93"/>
                </a:solidFill>
                <a:latin typeface="Inter"/>
                <a:ea typeface="Inter"/>
                <a:cs typeface="Inter"/>
                <a:sym typeface="Inter"/>
              </a:rPr>
              <a:t>STL · Capstone Fase 1 · Duoc UC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5240000" y="9696450"/>
            <a:ext cx="1905000" cy="1733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470"/>
              </a:lnSpc>
            </a:pPr>
            <a:r>
              <a:rPr lang="en-US" sz="1050" spc="315">
                <a:solidFill>
                  <a:srgbClr val="6B7C93"/>
                </a:solidFill>
                <a:latin typeface="Inter"/>
                <a:ea typeface="Inter"/>
                <a:cs typeface="Inter"/>
                <a:sym typeface="Inter"/>
              </a:rPr>
              <a:t>07 / 10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143000" y="1504950"/>
            <a:ext cx="4762500" cy="2228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b="1" spc="270">
                <a:solidFill>
                  <a:srgbClr val="7FC8F8"/>
                </a:solidFill>
                <a:latin typeface="Inter Bold"/>
                <a:ea typeface="Inter Bold"/>
                <a:cs typeface="Inter Bold"/>
                <a:sym typeface="Inter Bold"/>
              </a:rPr>
              <a:t>RIESGO PRINCIPAL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143000" y="1952625"/>
            <a:ext cx="14287500" cy="15259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940"/>
              </a:lnSpc>
            </a:pPr>
            <a:r>
              <a:rPr lang="en-US" sz="5400" b="1">
                <a:solidFill>
                  <a:srgbClr val="FFFFFF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Pérdida de conectividad</a:t>
            </a:r>
          </a:p>
          <a:p>
            <a:pPr algn="l">
              <a:lnSpc>
                <a:spcPts val="5940"/>
              </a:lnSpc>
            </a:pPr>
            <a:r>
              <a:rPr lang="en-US" sz="5400" b="1">
                <a:solidFill>
                  <a:srgbClr val="FFFFFF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GPS en ruta.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143000" y="5314950"/>
            <a:ext cx="2857500" cy="2228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b="1" spc="270">
                <a:solidFill>
                  <a:srgbClr val="7FC8F8"/>
                </a:solidFill>
                <a:latin typeface="Inter Bold"/>
                <a:ea typeface="Inter Bold"/>
                <a:cs typeface="Inter Bold"/>
                <a:sym typeface="Inter Bold"/>
              </a:rPr>
              <a:t>IMPACTO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143000" y="5657850"/>
            <a:ext cx="7429500" cy="6229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lang="en-US" sz="1650">
                <a:solidFill>
                  <a:srgbClr val="F4F6FA"/>
                </a:solidFill>
                <a:latin typeface="Inter"/>
                <a:ea typeface="Inter"/>
                <a:cs typeface="Inter"/>
                <a:sym typeface="Inter"/>
              </a:rPr>
              <a:t>Interrupción del rastreo, pérdida de eventos de ruta y ceguera operativa temporal durante trayectos por zonas rurales o de baja cobertura.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001250" y="5314950"/>
            <a:ext cx="2857500" cy="2228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b="1" spc="270">
                <a:solidFill>
                  <a:srgbClr val="7FC8F8"/>
                </a:solidFill>
                <a:latin typeface="Inter Bold"/>
                <a:ea typeface="Inter Bold"/>
                <a:cs typeface="Inter Bold"/>
                <a:sym typeface="Inter Bold"/>
              </a:rPr>
              <a:t>MITIGACIÓN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001250" y="5657850"/>
            <a:ext cx="7429500" cy="6229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lang="en-US" sz="1650">
                <a:solidFill>
                  <a:srgbClr val="F4F6FA"/>
                </a:solidFill>
                <a:latin typeface="Inter"/>
                <a:ea typeface="Inter"/>
                <a:cs typeface="Inter"/>
                <a:sym typeface="Inter"/>
              </a:rPr>
              <a:t>Almacenamiento local con Room DB en el dispositivo del conductor y sincronización diferida al recuperar conexión con el backend.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143000" y="4171950"/>
            <a:ext cx="2857500" cy="2228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b="1" spc="270">
                <a:solidFill>
                  <a:srgbClr val="7FC8F8"/>
                </a:solidFill>
                <a:latin typeface="Inter Bold"/>
                <a:ea typeface="Inter Bold"/>
                <a:cs typeface="Inter Bold"/>
                <a:sym typeface="Inter Bold"/>
              </a:rPr>
              <a:t>SEVERIDAD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3048000" y="4162425"/>
            <a:ext cx="1905000" cy="2076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 b="1" spc="360">
                <a:solidFill>
                  <a:srgbClr val="FF8B6A"/>
                </a:solidFill>
                <a:latin typeface="Inter Bold"/>
                <a:ea typeface="Inter Bold"/>
                <a:cs typeface="Inter Bold"/>
                <a:sym typeface="Inter Bold"/>
              </a:rPr>
              <a:t>ALTA</a:t>
            </a:r>
          </a:p>
        </p:txBody>
      </p:sp>
      <p:grpSp>
        <p:nvGrpSpPr>
          <p:cNvPr id="17" name="Group 17"/>
          <p:cNvGrpSpPr/>
          <p:nvPr/>
        </p:nvGrpSpPr>
        <p:grpSpPr>
          <a:xfrm>
            <a:off x="1143000" y="4476750"/>
            <a:ext cx="419100" cy="76200"/>
            <a:chOff x="0" y="0"/>
            <a:chExt cx="558800" cy="1016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558800" cy="101600"/>
            </a:xfrm>
            <a:custGeom>
              <a:avLst/>
              <a:gdLst/>
              <a:ahLst/>
              <a:cxnLst/>
              <a:rect l="l" t="t" r="r" b="b"/>
              <a:pathLst>
                <a:path w="558800" h="101600">
                  <a:moveTo>
                    <a:pt x="0" y="0"/>
                  </a:moveTo>
                  <a:lnTo>
                    <a:pt x="558800" y="0"/>
                  </a:lnTo>
                  <a:lnTo>
                    <a:pt x="558800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rgbClr val="7FC8F8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-38100"/>
              <a:ext cx="558800" cy="139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714500" y="4476750"/>
            <a:ext cx="419100" cy="76200"/>
            <a:chOff x="0" y="0"/>
            <a:chExt cx="558800" cy="10160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558800" cy="101600"/>
            </a:xfrm>
            <a:custGeom>
              <a:avLst/>
              <a:gdLst/>
              <a:ahLst/>
              <a:cxnLst/>
              <a:rect l="l" t="t" r="r" b="b"/>
              <a:pathLst>
                <a:path w="558800" h="101600">
                  <a:moveTo>
                    <a:pt x="0" y="0"/>
                  </a:moveTo>
                  <a:lnTo>
                    <a:pt x="558800" y="0"/>
                  </a:lnTo>
                  <a:lnTo>
                    <a:pt x="558800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rgbClr val="7FC8F8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0" y="-38100"/>
              <a:ext cx="558800" cy="139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2286000" y="4476750"/>
            <a:ext cx="419100" cy="76200"/>
            <a:chOff x="0" y="0"/>
            <a:chExt cx="558800" cy="10160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558800" cy="101600"/>
            </a:xfrm>
            <a:custGeom>
              <a:avLst/>
              <a:gdLst/>
              <a:ahLst/>
              <a:cxnLst/>
              <a:rect l="l" t="t" r="r" b="b"/>
              <a:pathLst>
                <a:path w="558800" h="101600">
                  <a:moveTo>
                    <a:pt x="0" y="0"/>
                  </a:moveTo>
                  <a:lnTo>
                    <a:pt x="558800" y="0"/>
                  </a:lnTo>
                  <a:lnTo>
                    <a:pt x="558800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rgbClr val="7FC8F8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0" y="-38100"/>
              <a:ext cx="558800" cy="139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2857500" y="4476750"/>
            <a:ext cx="419100" cy="76200"/>
            <a:chOff x="0" y="0"/>
            <a:chExt cx="558800" cy="101600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558800" cy="101600"/>
            </a:xfrm>
            <a:custGeom>
              <a:avLst/>
              <a:gdLst/>
              <a:ahLst/>
              <a:cxnLst/>
              <a:rect l="l" t="t" r="r" b="b"/>
              <a:pathLst>
                <a:path w="558800" h="101600">
                  <a:moveTo>
                    <a:pt x="0" y="0"/>
                  </a:moveTo>
                  <a:lnTo>
                    <a:pt x="558800" y="0"/>
                  </a:lnTo>
                  <a:lnTo>
                    <a:pt x="558800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rgbClr val="7FC8F8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0" y="-38100"/>
              <a:ext cx="558800" cy="139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3429000" y="4476750"/>
            <a:ext cx="419100" cy="76200"/>
            <a:chOff x="0" y="0"/>
            <a:chExt cx="558800" cy="101600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558800" cy="101600"/>
            </a:xfrm>
            <a:custGeom>
              <a:avLst/>
              <a:gdLst/>
              <a:ahLst/>
              <a:cxnLst/>
              <a:rect l="l" t="t" r="r" b="b"/>
              <a:pathLst>
                <a:path w="558800" h="101600">
                  <a:moveTo>
                    <a:pt x="0" y="0"/>
                  </a:moveTo>
                  <a:lnTo>
                    <a:pt x="558800" y="0"/>
                  </a:lnTo>
                  <a:lnTo>
                    <a:pt x="558800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rgbClr val="1E3A5F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0" y="-38100"/>
              <a:ext cx="558800" cy="139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32" name="AutoShape 32"/>
          <p:cNvSpPr/>
          <p:nvPr/>
        </p:nvSpPr>
        <p:spPr>
          <a:xfrm>
            <a:off x="9525000" y="5334000"/>
            <a:ext cx="0" cy="3238500"/>
          </a:xfrm>
          <a:prstGeom prst="line">
            <a:avLst/>
          </a:prstGeom>
          <a:ln w="9525" cap="flat">
            <a:solidFill>
              <a:srgbClr val="1E3A5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CL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143000" y="571500"/>
            <a:ext cx="457200" cy="38100"/>
            <a:chOff x="0" y="0"/>
            <a:chExt cx="609600" cy="50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09600" cy="50800"/>
            </a:xfrm>
            <a:custGeom>
              <a:avLst/>
              <a:gdLst/>
              <a:ahLst/>
              <a:cxnLst/>
              <a:rect l="l" t="t" r="r" b="b"/>
              <a:pathLst>
                <a:path w="609600" h="50800">
                  <a:moveTo>
                    <a:pt x="0" y="0"/>
                  </a:moveTo>
                  <a:lnTo>
                    <a:pt x="609600" y="0"/>
                  </a:lnTo>
                  <a:lnTo>
                    <a:pt x="609600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4EA8DE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609600" cy="88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790700" y="400050"/>
            <a:ext cx="1905000" cy="2228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b="1" spc="405">
                <a:solidFill>
                  <a:srgbClr val="4EA8DE"/>
                </a:solidFill>
                <a:latin typeface="Inter Bold"/>
                <a:ea typeface="Inter Bold"/>
                <a:cs typeface="Inter Bold"/>
                <a:sym typeface="Inter Bold"/>
              </a:rPr>
              <a:t>08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2381250" y="400050"/>
            <a:ext cx="8572500" cy="2228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spc="270">
                <a:solidFill>
                  <a:srgbClr val="1E3A5F"/>
                </a:solidFill>
                <a:latin typeface="Inter"/>
                <a:ea typeface="Inter"/>
                <a:cs typeface="Inter"/>
                <a:sym typeface="Inter"/>
              </a:rPr>
              <a:t>Plan de Trabajo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143000" y="9696450"/>
            <a:ext cx="8572500" cy="1733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lang="en-US" sz="1050" spc="315">
                <a:solidFill>
                  <a:srgbClr val="6B7C93"/>
                </a:solidFill>
                <a:latin typeface="Inter"/>
                <a:ea typeface="Inter"/>
                <a:cs typeface="Inter"/>
                <a:sym typeface="Inter"/>
              </a:rPr>
              <a:t>STL · Capstone Fase 1 · Duoc UC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5240000" y="9696450"/>
            <a:ext cx="1905000" cy="1733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470"/>
              </a:lnSpc>
            </a:pPr>
            <a:r>
              <a:rPr lang="en-US" sz="1050" spc="315">
                <a:solidFill>
                  <a:srgbClr val="6B7C93"/>
                </a:solidFill>
                <a:latin typeface="Inter"/>
                <a:ea typeface="Inter"/>
                <a:cs typeface="Inter"/>
                <a:sym typeface="Inter"/>
              </a:rPr>
              <a:t>08 / 10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143000" y="1485900"/>
            <a:ext cx="4762500" cy="266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b="1" spc="300">
                <a:solidFill>
                  <a:srgbClr val="4EA8DE"/>
                </a:solidFill>
                <a:latin typeface="Inter Bold"/>
                <a:ea typeface="Inter Bold"/>
                <a:cs typeface="Inter Bold"/>
                <a:sym typeface="Inter Bold"/>
              </a:rPr>
              <a:t>PLAN DE TRABAJO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143000" y="1952625"/>
            <a:ext cx="11430000" cy="15259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940"/>
              </a:lnSpc>
            </a:pPr>
            <a:r>
              <a:rPr lang="en-US" sz="5400" b="1">
                <a:solidFill>
                  <a:srgbClr val="0B1C33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18 semanas,</a:t>
            </a:r>
          </a:p>
          <a:p>
            <a:pPr algn="l">
              <a:lnSpc>
                <a:spcPts val="5940"/>
              </a:lnSpc>
            </a:pPr>
            <a:r>
              <a:rPr lang="en-US" sz="5400" b="1">
                <a:solidFill>
                  <a:srgbClr val="0B1C33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tres fases.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1143000" y="5143500"/>
            <a:ext cx="5143500" cy="3619500"/>
            <a:chOff x="0" y="0"/>
            <a:chExt cx="6858000" cy="4826000"/>
          </a:xfrm>
        </p:grpSpPr>
        <p:grpSp>
          <p:nvGrpSpPr>
            <p:cNvPr id="12" name="Group 12"/>
            <p:cNvGrpSpPr/>
            <p:nvPr/>
          </p:nvGrpSpPr>
          <p:grpSpPr>
            <a:xfrm>
              <a:off x="0" y="0"/>
              <a:ext cx="6858000" cy="4826000"/>
              <a:chOff x="0" y="0"/>
              <a:chExt cx="6858000" cy="4826000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0" y="0"/>
                <a:ext cx="6858000" cy="4826000"/>
              </a:xfrm>
              <a:custGeom>
                <a:avLst/>
                <a:gdLst/>
                <a:ahLst/>
                <a:cxnLst/>
                <a:rect l="l" t="t" r="r" b="b"/>
                <a:pathLst>
                  <a:path w="6858000" h="4826000">
                    <a:moveTo>
                      <a:pt x="0" y="0"/>
                    </a:moveTo>
                    <a:lnTo>
                      <a:pt x="6858000" y="0"/>
                    </a:lnTo>
                    <a:lnTo>
                      <a:pt x="6858000" y="4826000"/>
                    </a:lnTo>
                    <a:lnTo>
                      <a:pt x="0" y="4826000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sq">
                <a:solidFill>
                  <a:srgbClr val="D5DDE8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s-CL"/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0" y="-38100"/>
                <a:ext cx="6858000" cy="48641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grpSp>
          <p:nvGrpSpPr>
            <p:cNvPr id="15" name="Group 15"/>
            <p:cNvGrpSpPr/>
            <p:nvPr/>
          </p:nvGrpSpPr>
          <p:grpSpPr>
            <a:xfrm>
              <a:off x="0" y="4749800"/>
              <a:ext cx="1508760" cy="76200"/>
              <a:chOff x="0" y="0"/>
              <a:chExt cx="1508760" cy="76200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0" y="0"/>
                <a:ext cx="150876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1508760" h="76200">
                    <a:moveTo>
                      <a:pt x="0" y="0"/>
                    </a:moveTo>
                    <a:lnTo>
                      <a:pt x="1508760" y="0"/>
                    </a:lnTo>
                    <a:lnTo>
                      <a:pt x="1508760" y="76200"/>
                    </a:lnTo>
                    <a:lnTo>
                      <a:pt x="0" y="76200"/>
                    </a:lnTo>
                    <a:close/>
                  </a:path>
                </a:pathLst>
              </a:custGeom>
              <a:solidFill>
                <a:srgbClr val="4EA8DE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s-CL"/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0" y="-38100"/>
                <a:ext cx="1508760" cy="1143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18" name="TextBox 18"/>
            <p:cNvSpPr txBox="1"/>
            <p:nvPr/>
          </p:nvSpPr>
          <p:spPr>
            <a:xfrm>
              <a:off x="457200" y="520700"/>
              <a:ext cx="2540000" cy="11049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6000"/>
                </a:lnSpc>
              </a:pPr>
              <a:r>
                <a:rPr lang="en-US" sz="6000" b="1">
                  <a:solidFill>
                    <a:srgbClr val="4EA8DE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01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2540000" y="479425"/>
              <a:ext cx="4064000" cy="26733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r">
                <a:lnSpc>
                  <a:spcPts val="1679"/>
                </a:lnSpc>
              </a:pPr>
              <a:r>
                <a:rPr lang="en-US" sz="1200" b="1" spc="360">
                  <a:solidFill>
                    <a:srgbClr val="6B7C93"/>
                  </a:solidFill>
                  <a:latin typeface="Inter Bold"/>
                  <a:ea typeface="Inter Bold"/>
                  <a:cs typeface="Inter Bold"/>
                  <a:sym typeface="Inter Bold"/>
                </a:rPr>
                <a:t>Semanas 1–4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57200" y="2149475"/>
              <a:ext cx="5943600" cy="4286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520"/>
                </a:lnSpc>
              </a:pPr>
              <a:r>
                <a:rPr lang="en-US" sz="2100" b="1">
                  <a:solidFill>
                    <a:srgbClr val="0B1C33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Levantamiento y Arquitectura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457200" y="2743200"/>
              <a:ext cx="5943600" cy="65532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en-US" sz="1350">
                  <a:solidFill>
                    <a:srgbClr val="1E3A5F"/>
                  </a:solidFill>
                  <a:latin typeface="Inter"/>
                  <a:ea typeface="Inter"/>
                  <a:cs typeface="Inter"/>
                  <a:sym typeface="Inter"/>
                </a:rPr>
                <a:t>Requisitos, modelado, contratos de API y diseño de la arquitectura del sistema.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6572250" y="5143500"/>
            <a:ext cx="5143500" cy="3619500"/>
            <a:chOff x="0" y="0"/>
            <a:chExt cx="6858000" cy="4826000"/>
          </a:xfrm>
        </p:grpSpPr>
        <p:grpSp>
          <p:nvGrpSpPr>
            <p:cNvPr id="23" name="Group 23"/>
            <p:cNvGrpSpPr/>
            <p:nvPr/>
          </p:nvGrpSpPr>
          <p:grpSpPr>
            <a:xfrm>
              <a:off x="0" y="0"/>
              <a:ext cx="6858000" cy="4826000"/>
              <a:chOff x="0" y="0"/>
              <a:chExt cx="6858000" cy="4826000"/>
            </a:xfrm>
          </p:grpSpPr>
          <p:sp>
            <p:nvSpPr>
              <p:cNvPr id="24" name="Freeform 24"/>
              <p:cNvSpPr/>
              <p:nvPr/>
            </p:nvSpPr>
            <p:spPr>
              <a:xfrm>
                <a:off x="0" y="0"/>
                <a:ext cx="6858000" cy="4826000"/>
              </a:xfrm>
              <a:custGeom>
                <a:avLst/>
                <a:gdLst/>
                <a:ahLst/>
                <a:cxnLst/>
                <a:rect l="l" t="t" r="r" b="b"/>
                <a:pathLst>
                  <a:path w="6858000" h="4826000">
                    <a:moveTo>
                      <a:pt x="0" y="0"/>
                    </a:moveTo>
                    <a:lnTo>
                      <a:pt x="6858000" y="0"/>
                    </a:lnTo>
                    <a:lnTo>
                      <a:pt x="6858000" y="4826000"/>
                    </a:lnTo>
                    <a:lnTo>
                      <a:pt x="0" y="4826000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sq">
                <a:solidFill>
                  <a:srgbClr val="D5DDE8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s-CL"/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0" y="-38100"/>
                <a:ext cx="6858000" cy="48641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grpSp>
          <p:nvGrpSpPr>
            <p:cNvPr id="26" name="Group 26"/>
            <p:cNvGrpSpPr/>
            <p:nvPr/>
          </p:nvGrpSpPr>
          <p:grpSpPr>
            <a:xfrm>
              <a:off x="0" y="4749800"/>
              <a:ext cx="3840480" cy="76200"/>
              <a:chOff x="0" y="0"/>
              <a:chExt cx="3840480" cy="76200"/>
            </a:xfrm>
          </p:grpSpPr>
          <p:sp>
            <p:nvSpPr>
              <p:cNvPr id="27" name="Freeform 27"/>
              <p:cNvSpPr/>
              <p:nvPr/>
            </p:nvSpPr>
            <p:spPr>
              <a:xfrm>
                <a:off x="0" y="0"/>
                <a:ext cx="384048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3840480" h="76200">
                    <a:moveTo>
                      <a:pt x="0" y="0"/>
                    </a:moveTo>
                    <a:lnTo>
                      <a:pt x="3840480" y="0"/>
                    </a:lnTo>
                    <a:lnTo>
                      <a:pt x="3840480" y="76200"/>
                    </a:lnTo>
                    <a:lnTo>
                      <a:pt x="0" y="76200"/>
                    </a:lnTo>
                    <a:close/>
                  </a:path>
                </a:pathLst>
              </a:custGeom>
              <a:solidFill>
                <a:srgbClr val="4EA8DE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s-CL"/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0" y="-38100"/>
                <a:ext cx="3840480" cy="1143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29" name="TextBox 29"/>
            <p:cNvSpPr txBox="1"/>
            <p:nvPr/>
          </p:nvSpPr>
          <p:spPr>
            <a:xfrm>
              <a:off x="457200" y="520700"/>
              <a:ext cx="2540000" cy="11049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6000"/>
                </a:lnSpc>
              </a:pPr>
              <a:r>
                <a:rPr lang="en-US" sz="6000" b="1">
                  <a:solidFill>
                    <a:srgbClr val="4EA8DE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02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2540000" y="479425"/>
              <a:ext cx="4064000" cy="26733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r">
                <a:lnSpc>
                  <a:spcPts val="1679"/>
                </a:lnSpc>
              </a:pPr>
              <a:r>
                <a:rPr lang="en-US" sz="1200" b="1" spc="360">
                  <a:solidFill>
                    <a:srgbClr val="6B7C93"/>
                  </a:solidFill>
                  <a:latin typeface="Inter Bold"/>
                  <a:ea typeface="Inter Bold"/>
                  <a:cs typeface="Inter Bold"/>
                  <a:sym typeface="Inter Bold"/>
                </a:rPr>
                <a:t>Semanas 5–14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457200" y="2149475"/>
              <a:ext cx="5943600" cy="4286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520"/>
                </a:lnSpc>
              </a:pPr>
              <a:r>
                <a:rPr lang="en-US" sz="2100" b="1">
                  <a:solidFill>
                    <a:srgbClr val="0B1C33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Desarrollo Backend y Frontend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457200" y="2743200"/>
              <a:ext cx="5943600" cy="65532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en-US" sz="1350">
                  <a:solidFill>
                    <a:srgbClr val="1E3A5F"/>
                  </a:solidFill>
                  <a:latin typeface="Inter"/>
                  <a:ea typeface="Inter"/>
                  <a:cs typeface="Inter"/>
                  <a:sym typeface="Inter"/>
                </a:rPr>
                <a:t>Construcción paralela del panel web, la app móvil y los servicios REST.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12001500" y="5143500"/>
            <a:ext cx="5143500" cy="3619500"/>
            <a:chOff x="0" y="0"/>
            <a:chExt cx="6858000" cy="4826000"/>
          </a:xfrm>
        </p:grpSpPr>
        <p:grpSp>
          <p:nvGrpSpPr>
            <p:cNvPr id="34" name="Group 34"/>
            <p:cNvGrpSpPr/>
            <p:nvPr/>
          </p:nvGrpSpPr>
          <p:grpSpPr>
            <a:xfrm>
              <a:off x="0" y="0"/>
              <a:ext cx="6858000" cy="4826000"/>
              <a:chOff x="0" y="0"/>
              <a:chExt cx="6858000" cy="4826000"/>
            </a:xfrm>
          </p:grpSpPr>
          <p:sp>
            <p:nvSpPr>
              <p:cNvPr id="35" name="Freeform 35"/>
              <p:cNvSpPr/>
              <p:nvPr/>
            </p:nvSpPr>
            <p:spPr>
              <a:xfrm>
                <a:off x="0" y="0"/>
                <a:ext cx="6858000" cy="4826000"/>
              </a:xfrm>
              <a:custGeom>
                <a:avLst/>
                <a:gdLst/>
                <a:ahLst/>
                <a:cxnLst/>
                <a:rect l="l" t="t" r="r" b="b"/>
                <a:pathLst>
                  <a:path w="6858000" h="4826000">
                    <a:moveTo>
                      <a:pt x="0" y="0"/>
                    </a:moveTo>
                    <a:lnTo>
                      <a:pt x="6858000" y="0"/>
                    </a:lnTo>
                    <a:lnTo>
                      <a:pt x="6858000" y="4826000"/>
                    </a:lnTo>
                    <a:lnTo>
                      <a:pt x="0" y="4826000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sq">
                <a:solidFill>
                  <a:srgbClr val="D5DDE8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s-CL"/>
              </a:p>
            </p:txBody>
          </p:sp>
          <p:sp>
            <p:nvSpPr>
              <p:cNvPr id="36" name="TextBox 36"/>
              <p:cNvSpPr txBox="1"/>
              <p:nvPr/>
            </p:nvSpPr>
            <p:spPr>
              <a:xfrm>
                <a:off x="0" y="-38100"/>
                <a:ext cx="6858000" cy="48641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grpSp>
          <p:nvGrpSpPr>
            <p:cNvPr id="37" name="Group 37"/>
            <p:cNvGrpSpPr/>
            <p:nvPr/>
          </p:nvGrpSpPr>
          <p:grpSpPr>
            <a:xfrm>
              <a:off x="0" y="4749800"/>
              <a:ext cx="1508760" cy="76200"/>
              <a:chOff x="0" y="0"/>
              <a:chExt cx="1508760" cy="76200"/>
            </a:xfrm>
          </p:grpSpPr>
          <p:sp>
            <p:nvSpPr>
              <p:cNvPr id="38" name="Freeform 38"/>
              <p:cNvSpPr/>
              <p:nvPr/>
            </p:nvSpPr>
            <p:spPr>
              <a:xfrm>
                <a:off x="0" y="0"/>
                <a:ext cx="150876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1508760" h="76200">
                    <a:moveTo>
                      <a:pt x="0" y="0"/>
                    </a:moveTo>
                    <a:lnTo>
                      <a:pt x="1508760" y="0"/>
                    </a:lnTo>
                    <a:lnTo>
                      <a:pt x="1508760" y="76200"/>
                    </a:lnTo>
                    <a:lnTo>
                      <a:pt x="0" y="76200"/>
                    </a:lnTo>
                    <a:close/>
                  </a:path>
                </a:pathLst>
              </a:custGeom>
              <a:solidFill>
                <a:srgbClr val="4EA8DE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s-CL"/>
              </a:p>
            </p:txBody>
          </p:sp>
          <p:sp>
            <p:nvSpPr>
              <p:cNvPr id="39" name="TextBox 39"/>
              <p:cNvSpPr txBox="1"/>
              <p:nvPr/>
            </p:nvSpPr>
            <p:spPr>
              <a:xfrm>
                <a:off x="0" y="-38100"/>
                <a:ext cx="1508760" cy="1143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40" name="TextBox 40"/>
            <p:cNvSpPr txBox="1"/>
            <p:nvPr/>
          </p:nvSpPr>
          <p:spPr>
            <a:xfrm>
              <a:off x="457200" y="520700"/>
              <a:ext cx="2540000" cy="11049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6000"/>
                </a:lnSpc>
              </a:pPr>
              <a:r>
                <a:rPr lang="en-US" sz="6000" b="1">
                  <a:solidFill>
                    <a:srgbClr val="4EA8DE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03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2540000" y="479425"/>
              <a:ext cx="4064000" cy="26733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r">
                <a:lnSpc>
                  <a:spcPts val="1679"/>
                </a:lnSpc>
              </a:pPr>
              <a:r>
                <a:rPr lang="en-US" sz="1200" b="1" spc="360">
                  <a:solidFill>
                    <a:srgbClr val="6B7C93"/>
                  </a:solidFill>
                  <a:latin typeface="Inter Bold"/>
                  <a:ea typeface="Inter Bold"/>
                  <a:cs typeface="Inter Bold"/>
                  <a:sym typeface="Inter Bold"/>
                </a:rPr>
                <a:t>Semanas 15–18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457200" y="2149475"/>
              <a:ext cx="5943600" cy="4286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520"/>
                </a:lnSpc>
              </a:pPr>
              <a:r>
                <a:rPr lang="en-US" sz="2100" b="1">
                  <a:solidFill>
                    <a:srgbClr val="0B1C33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Pruebas QA y Pilotaje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457200" y="2743200"/>
              <a:ext cx="5943600" cy="65532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en-US" sz="1350">
                  <a:solidFill>
                    <a:srgbClr val="1E3A5F"/>
                  </a:solidFill>
                  <a:latin typeface="Inter"/>
                  <a:ea typeface="Inter"/>
                  <a:cs typeface="Inter"/>
                  <a:sym typeface="Inter"/>
                </a:rPr>
                <a:t>Ciclos de QA, pruebas integradas y pilotaje con escenarios reales de operación.</a:t>
              </a:r>
            </a:p>
          </p:txBody>
        </p:sp>
      </p:grpSp>
      <p:sp>
        <p:nvSpPr>
          <p:cNvPr id="44" name="AutoShape 44"/>
          <p:cNvSpPr/>
          <p:nvPr/>
        </p:nvSpPr>
        <p:spPr>
          <a:xfrm>
            <a:off x="1143000" y="4572000"/>
            <a:ext cx="16002000" cy="0"/>
          </a:xfrm>
          <a:prstGeom prst="line">
            <a:avLst/>
          </a:prstGeom>
          <a:ln w="19050" cap="flat">
            <a:solidFill>
              <a:srgbClr val="4EA8DE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CL"/>
          </a:p>
        </p:txBody>
      </p:sp>
      <p:grpSp>
        <p:nvGrpSpPr>
          <p:cNvPr id="45" name="Group 45"/>
          <p:cNvGrpSpPr/>
          <p:nvPr/>
        </p:nvGrpSpPr>
        <p:grpSpPr>
          <a:xfrm>
            <a:off x="1066800" y="4495800"/>
            <a:ext cx="152400" cy="152400"/>
            <a:chOff x="0" y="0"/>
            <a:chExt cx="203200" cy="203200"/>
          </a:xfrm>
        </p:grpSpPr>
        <p:sp>
          <p:nvSpPr>
            <p:cNvPr id="46" name="Freeform 46"/>
            <p:cNvSpPr/>
            <p:nvPr/>
          </p:nvSpPr>
          <p:spPr>
            <a:xfrm>
              <a:off x="0" y="0"/>
              <a:ext cx="203200" cy="203200"/>
            </a:xfrm>
            <a:custGeom>
              <a:avLst/>
              <a:gdLst/>
              <a:ahLst/>
              <a:cxnLst/>
              <a:rect l="l" t="t" r="r" b="b"/>
              <a:pathLst>
                <a:path w="203200" h="203200">
                  <a:moveTo>
                    <a:pt x="101600" y="0"/>
                  </a:moveTo>
                  <a:cubicBezTo>
                    <a:pt x="157712" y="0"/>
                    <a:pt x="203200" y="45488"/>
                    <a:pt x="203200" y="101600"/>
                  </a:cubicBezTo>
                  <a:cubicBezTo>
                    <a:pt x="203200" y="157712"/>
                    <a:pt x="157712" y="203200"/>
                    <a:pt x="101600" y="203200"/>
                  </a:cubicBezTo>
                  <a:cubicBezTo>
                    <a:pt x="45488" y="203200"/>
                    <a:pt x="0" y="157712"/>
                    <a:pt x="0" y="101600"/>
                  </a:cubicBezTo>
                  <a:cubicBezTo>
                    <a:pt x="0" y="45488"/>
                    <a:pt x="45488" y="0"/>
                    <a:pt x="101600" y="0"/>
                  </a:cubicBezTo>
                  <a:close/>
                </a:path>
              </a:pathLst>
            </a:custGeom>
            <a:solidFill>
              <a:srgbClr val="4EA8DE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CL"/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17068800" y="4495800"/>
            <a:ext cx="152400" cy="152400"/>
            <a:chOff x="0" y="0"/>
            <a:chExt cx="203200" cy="203200"/>
          </a:xfrm>
        </p:grpSpPr>
        <p:sp>
          <p:nvSpPr>
            <p:cNvPr id="48" name="Freeform 48"/>
            <p:cNvSpPr/>
            <p:nvPr/>
          </p:nvSpPr>
          <p:spPr>
            <a:xfrm>
              <a:off x="0" y="0"/>
              <a:ext cx="203200" cy="203200"/>
            </a:xfrm>
            <a:custGeom>
              <a:avLst/>
              <a:gdLst/>
              <a:ahLst/>
              <a:cxnLst/>
              <a:rect l="l" t="t" r="r" b="b"/>
              <a:pathLst>
                <a:path w="203200" h="203200">
                  <a:moveTo>
                    <a:pt x="101600" y="0"/>
                  </a:moveTo>
                  <a:cubicBezTo>
                    <a:pt x="157712" y="0"/>
                    <a:pt x="203200" y="45488"/>
                    <a:pt x="203200" y="101600"/>
                  </a:cubicBezTo>
                  <a:cubicBezTo>
                    <a:pt x="203200" y="157712"/>
                    <a:pt x="157712" y="203200"/>
                    <a:pt x="101600" y="203200"/>
                  </a:cubicBezTo>
                  <a:cubicBezTo>
                    <a:pt x="45488" y="203200"/>
                    <a:pt x="0" y="157712"/>
                    <a:pt x="0" y="101600"/>
                  </a:cubicBezTo>
                  <a:cubicBezTo>
                    <a:pt x="0" y="45488"/>
                    <a:pt x="45488" y="0"/>
                    <a:pt x="101600" y="0"/>
                  </a:cubicBezTo>
                  <a:close/>
                </a:path>
              </a:pathLst>
            </a:custGeom>
            <a:solidFill>
              <a:srgbClr val="4EA8DE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CL"/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143000" y="571500"/>
            <a:ext cx="457200" cy="38100"/>
            <a:chOff x="0" y="0"/>
            <a:chExt cx="609600" cy="50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09600" cy="50800"/>
            </a:xfrm>
            <a:custGeom>
              <a:avLst/>
              <a:gdLst/>
              <a:ahLst/>
              <a:cxnLst/>
              <a:rect l="l" t="t" r="r" b="b"/>
              <a:pathLst>
                <a:path w="609600" h="50800">
                  <a:moveTo>
                    <a:pt x="0" y="0"/>
                  </a:moveTo>
                  <a:lnTo>
                    <a:pt x="609600" y="0"/>
                  </a:lnTo>
                  <a:lnTo>
                    <a:pt x="609600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4EA8DE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609600" cy="88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790700" y="400050"/>
            <a:ext cx="1905000" cy="2228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b="1" spc="405">
                <a:solidFill>
                  <a:srgbClr val="4EA8DE"/>
                </a:solidFill>
                <a:latin typeface="Inter Bold"/>
                <a:ea typeface="Inter Bold"/>
                <a:cs typeface="Inter Bold"/>
                <a:sym typeface="Inter Bold"/>
              </a:rPr>
              <a:t>09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2381250" y="400050"/>
            <a:ext cx="8572500" cy="2228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spc="270">
                <a:solidFill>
                  <a:srgbClr val="1E3A5F"/>
                </a:solidFill>
                <a:latin typeface="Inter"/>
                <a:ea typeface="Inter"/>
                <a:cs typeface="Inter"/>
                <a:sym typeface="Inter"/>
              </a:rPr>
              <a:t>Evidencias Técnicas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143000" y="9696450"/>
            <a:ext cx="8572500" cy="1733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lang="en-US" sz="1050" spc="315">
                <a:solidFill>
                  <a:srgbClr val="6B7C93"/>
                </a:solidFill>
                <a:latin typeface="Inter"/>
                <a:ea typeface="Inter"/>
                <a:cs typeface="Inter"/>
                <a:sym typeface="Inter"/>
              </a:rPr>
              <a:t>STL · Capstone Fase 1 · Duoc UC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5240000" y="9696450"/>
            <a:ext cx="1905000" cy="1733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470"/>
              </a:lnSpc>
            </a:pPr>
            <a:r>
              <a:rPr lang="en-US" sz="1050" spc="315">
                <a:solidFill>
                  <a:srgbClr val="6B7C93"/>
                </a:solidFill>
                <a:latin typeface="Inter"/>
                <a:ea typeface="Inter"/>
                <a:cs typeface="Inter"/>
                <a:sym typeface="Inter"/>
              </a:rPr>
              <a:t>09 / 10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143000" y="1485900"/>
            <a:ext cx="4762500" cy="266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b="1" spc="300">
                <a:solidFill>
                  <a:srgbClr val="4EA8DE"/>
                </a:solidFill>
                <a:latin typeface="Inter Bold"/>
                <a:ea typeface="Inter Bold"/>
                <a:cs typeface="Inter Bold"/>
                <a:sym typeface="Inter Bold"/>
              </a:rPr>
              <a:t>ENTREGABLES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143000" y="1952625"/>
            <a:ext cx="14287500" cy="15259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940"/>
              </a:lnSpc>
            </a:pPr>
            <a:r>
              <a:rPr lang="en-US" sz="5400" b="1">
                <a:solidFill>
                  <a:srgbClr val="0B1C33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Artefactos que</a:t>
            </a:r>
          </a:p>
          <a:p>
            <a:pPr algn="l">
              <a:lnSpc>
                <a:spcPts val="5940"/>
              </a:lnSpc>
            </a:pPr>
            <a:r>
              <a:rPr lang="en-US" sz="5400" b="1">
                <a:solidFill>
                  <a:srgbClr val="0B1C33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respaldan el sistema.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1143000" y="5143500"/>
            <a:ext cx="3786188" cy="3429000"/>
            <a:chOff x="0" y="0"/>
            <a:chExt cx="5048250" cy="4572000"/>
          </a:xfrm>
        </p:grpSpPr>
        <p:grpSp>
          <p:nvGrpSpPr>
            <p:cNvPr id="12" name="Group 12"/>
            <p:cNvGrpSpPr/>
            <p:nvPr/>
          </p:nvGrpSpPr>
          <p:grpSpPr>
            <a:xfrm>
              <a:off x="0" y="0"/>
              <a:ext cx="5048250" cy="4572000"/>
              <a:chOff x="0" y="0"/>
              <a:chExt cx="5048250" cy="4572000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0" y="0"/>
                <a:ext cx="5048250" cy="4572000"/>
              </a:xfrm>
              <a:custGeom>
                <a:avLst/>
                <a:gdLst/>
                <a:ahLst/>
                <a:cxnLst/>
                <a:rect l="l" t="t" r="r" b="b"/>
                <a:pathLst>
                  <a:path w="5048250" h="4572000">
                    <a:moveTo>
                      <a:pt x="0" y="0"/>
                    </a:moveTo>
                    <a:lnTo>
                      <a:pt x="5048250" y="0"/>
                    </a:lnTo>
                    <a:lnTo>
                      <a:pt x="5048250" y="4572000"/>
                    </a:lnTo>
                    <a:lnTo>
                      <a:pt x="0" y="4572000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sq">
                <a:solidFill>
                  <a:srgbClr val="D5DDE8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s-CL"/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0" y="-38100"/>
                <a:ext cx="5048250" cy="46101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grpSp>
          <p:nvGrpSpPr>
            <p:cNvPr id="15" name="Group 15"/>
            <p:cNvGrpSpPr/>
            <p:nvPr/>
          </p:nvGrpSpPr>
          <p:grpSpPr>
            <a:xfrm>
              <a:off x="355600" y="1397000"/>
              <a:ext cx="508000" cy="25400"/>
              <a:chOff x="0" y="0"/>
              <a:chExt cx="508000" cy="25400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0" y="0"/>
                <a:ext cx="508000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508000" h="25400">
                    <a:moveTo>
                      <a:pt x="0" y="0"/>
                    </a:moveTo>
                    <a:lnTo>
                      <a:pt x="508000" y="0"/>
                    </a:lnTo>
                    <a:lnTo>
                      <a:pt x="508000" y="25400"/>
                    </a:lnTo>
                    <a:lnTo>
                      <a:pt x="0" y="25400"/>
                    </a:lnTo>
                    <a:close/>
                  </a:path>
                </a:pathLst>
              </a:custGeom>
              <a:solidFill>
                <a:srgbClr val="4EA8DE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s-CL"/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0" y="-38100"/>
                <a:ext cx="508000" cy="63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18" name="TextBox 18"/>
            <p:cNvSpPr txBox="1"/>
            <p:nvPr/>
          </p:nvSpPr>
          <p:spPr>
            <a:xfrm>
              <a:off x="355600" y="377825"/>
              <a:ext cx="4337050" cy="2571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574"/>
                </a:lnSpc>
              </a:pPr>
              <a:r>
                <a:rPr lang="en-US" sz="1125" b="1" spc="337">
                  <a:solidFill>
                    <a:srgbClr val="4EA8DE"/>
                  </a:solidFill>
                  <a:latin typeface="Inter Bold"/>
                  <a:ea typeface="Inter Bold"/>
                  <a:cs typeface="Inter Bold"/>
                  <a:sym typeface="Inter Bold"/>
                </a:rPr>
                <a:t>DATOS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355600" y="377825"/>
              <a:ext cx="4337050" cy="2571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r">
                <a:lnSpc>
                  <a:spcPts val="1574"/>
                </a:lnSpc>
              </a:pPr>
              <a:r>
                <a:rPr lang="en-US" sz="1125" b="1">
                  <a:solidFill>
                    <a:srgbClr val="6B7C93"/>
                  </a:solidFill>
                  <a:latin typeface="Inter Bold"/>
                  <a:ea typeface="Inter Bold"/>
                  <a:cs typeface="Inter Bold"/>
                  <a:sym typeface="Inter Bold"/>
                </a:rPr>
                <a:t>01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355600" y="1641475"/>
              <a:ext cx="4337050" cy="4286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520"/>
                </a:lnSpc>
              </a:pPr>
              <a:r>
                <a:rPr lang="en-US" sz="2100" b="1">
                  <a:solidFill>
                    <a:srgbClr val="0B1C33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Modelos lógicos de BD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355600" y="2254250"/>
              <a:ext cx="4337050" cy="60833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889"/>
                </a:lnSpc>
              </a:pPr>
              <a:r>
                <a:rPr lang="en-US" sz="1350">
                  <a:solidFill>
                    <a:srgbClr val="6B7C93"/>
                  </a:solidFill>
                  <a:latin typeface="Inter"/>
                  <a:ea typeface="Inter"/>
                  <a:cs typeface="Inter"/>
                  <a:sym typeface="Inter"/>
                </a:rPr>
                <a:t>Diagramas entidad-relación y esquemas normalizados del dominio.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5214938" y="5143500"/>
            <a:ext cx="3786188" cy="3429000"/>
            <a:chOff x="0" y="0"/>
            <a:chExt cx="5048250" cy="4572000"/>
          </a:xfrm>
        </p:grpSpPr>
        <p:grpSp>
          <p:nvGrpSpPr>
            <p:cNvPr id="23" name="Group 23"/>
            <p:cNvGrpSpPr/>
            <p:nvPr/>
          </p:nvGrpSpPr>
          <p:grpSpPr>
            <a:xfrm>
              <a:off x="0" y="0"/>
              <a:ext cx="5048250" cy="4572000"/>
              <a:chOff x="0" y="0"/>
              <a:chExt cx="5048250" cy="4572000"/>
            </a:xfrm>
          </p:grpSpPr>
          <p:sp>
            <p:nvSpPr>
              <p:cNvPr id="24" name="Freeform 24"/>
              <p:cNvSpPr/>
              <p:nvPr/>
            </p:nvSpPr>
            <p:spPr>
              <a:xfrm>
                <a:off x="0" y="0"/>
                <a:ext cx="5048250" cy="4572000"/>
              </a:xfrm>
              <a:custGeom>
                <a:avLst/>
                <a:gdLst/>
                <a:ahLst/>
                <a:cxnLst/>
                <a:rect l="l" t="t" r="r" b="b"/>
                <a:pathLst>
                  <a:path w="5048250" h="4572000">
                    <a:moveTo>
                      <a:pt x="0" y="0"/>
                    </a:moveTo>
                    <a:lnTo>
                      <a:pt x="5048250" y="0"/>
                    </a:lnTo>
                    <a:lnTo>
                      <a:pt x="5048250" y="4572000"/>
                    </a:lnTo>
                    <a:lnTo>
                      <a:pt x="0" y="4572000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sq">
                <a:solidFill>
                  <a:srgbClr val="D5DDE8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s-CL"/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0" y="-38100"/>
                <a:ext cx="5048250" cy="46101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grpSp>
          <p:nvGrpSpPr>
            <p:cNvPr id="26" name="Group 26"/>
            <p:cNvGrpSpPr/>
            <p:nvPr/>
          </p:nvGrpSpPr>
          <p:grpSpPr>
            <a:xfrm>
              <a:off x="355600" y="1397000"/>
              <a:ext cx="508000" cy="25400"/>
              <a:chOff x="0" y="0"/>
              <a:chExt cx="508000" cy="25400"/>
            </a:xfrm>
          </p:grpSpPr>
          <p:sp>
            <p:nvSpPr>
              <p:cNvPr id="27" name="Freeform 27"/>
              <p:cNvSpPr/>
              <p:nvPr/>
            </p:nvSpPr>
            <p:spPr>
              <a:xfrm>
                <a:off x="0" y="0"/>
                <a:ext cx="508000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508000" h="25400">
                    <a:moveTo>
                      <a:pt x="0" y="0"/>
                    </a:moveTo>
                    <a:lnTo>
                      <a:pt x="508000" y="0"/>
                    </a:lnTo>
                    <a:lnTo>
                      <a:pt x="508000" y="25400"/>
                    </a:lnTo>
                    <a:lnTo>
                      <a:pt x="0" y="25400"/>
                    </a:lnTo>
                    <a:close/>
                  </a:path>
                </a:pathLst>
              </a:custGeom>
              <a:solidFill>
                <a:srgbClr val="4EA8DE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s-CL"/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0" y="-38100"/>
                <a:ext cx="508000" cy="63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29" name="TextBox 29"/>
            <p:cNvSpPr txBox="1"/>
            <p:nvPr/>
          </p:nvSpPr>
          <p:spPr>
            <a:xfrm>
              <a:off x="355600" y="377825"/>
              <a:ext cx="4337050" cy="2571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574"/>
                </a:lnSpc>
              </a:pPr>
              <a:r>
                <a:rPr lang="en-US" sz="1125" b="1" spc="337">
                  <a:solidFill>
                    <a:srgbClr val="4EA8DE"/>
                  </a:solidFill>
                  <a:latin typeface="Inter Bold"/>
                  <a:ea typeface="Inter Bold"/>
                  <a:cs typeface="Inter Bold"/>
                  <a:sym typeface="Inter Bold"/>
                </a:rPr>
                <a:t>API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355600" y="377825"/>
              <a:ext cx="4337050" cy="2571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r">
                <a:lnSpc>
                  <a:spcPts val="1574"/>
                </a:lnSpc>
              </a:pPr>
              <a:r>
                <a:rPr lang="en-US" sz="1125" b="1">
                  <a:solidFill>
                    <a:srgbClr val="6B7C93"/>
                  </a:solidFill>
                  <a:latin typeface="Inter Bold"/>
                  <a:ea typeface="Inter Bold"/>
                  <a:cs typeface="Inter Bold"/>
                  <a:sym typeface="Inter Bold"/>
                </a:rPr>
                <a:t>02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355600" y="1641475"/>
              <a:ext cx="4337050" cy="4286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520"/>
                </a:lnSpc>
              </a:pPr>
              <a:r>
                <a:rPr lang="en-US" sz="2100" b="1">
                  <a:solidFill>
                    <a:srgbClr val="0B1C33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Contratos OpenAPI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355600" y="2254250"/>
              <a:ext cx="4337050" cy="60833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889"/>
                </a:lnSpc>
              </a:pPr>
              <a:r>
                <a:rPr lang="en-US" sz="1350">
                  <a:solidFill>
                    <a:srgbClr val="6B7C93"/>
                  </a:solidFill>
                  <a:latin typeface="Inter"/>
                  <a:ea typeface="Inter"/>
                  <a:cs typeface="Inter"/>
                  <a:sym typeface="Inter"/>
                </a:rPr>
                <a:t>Especificación formal de endpoints, esquemas y respuestas del backend.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9286875" y="5143500"/>
            <a:ext cx="3786188" cy="3429000"/>
            <a:chOff x="0" y="0"/>
            <a:chExt cx="5048250" cy="4572000"/>
          </a:xfrm>
        </p:grpSpPr>
        <p:grpSp>
          <p:nvGrpSpPr>
            <p:cNvPr id="34" name="Group 34"/>
            <p:cNvGrpSpPr/>
            <p:nvPr/>
          </p:nvGrpSpPr>
          <p:grpSpPr>
            <a:xfrm>
              <a:off x="0" y="0"/>
              <a:ext cx="5048250" cy="4572000"/>
              <a:chOff x="0" y="0"/>
              <a:chExt cx="5048250" cy="4572000"/>
            </a:xfrm>
          </p:grpSpPr>
          <p:sp>
            <p:nvSpPr>
              <p:cNvPr id="35" name="Freeform 35"/>
              <p:cNvSpPr/>
              <p:nvPr/>
            </p:nvSpPr>
            <p:spPr>
              <a:xfrm>
                <a:off x="0" y="0"/>
                <a:ext cx="5048250" cy="4572000"/>
              </a:xfrm>
              <a:custGeom>
                <a:avLst/>
                <a:gdLst/>
                <a:ahLst/>
                <a:cxnLst/>
                <a:rect l="l" t="t" r="r" b="b"/>
                <a:pathLst>
                  <a:path w="5048250" h="4572000">
                    <a:moveTo>
                      <a:pt x="0" y="0"/>
                    </a:moveTo>
                    <a:lnTo>
                      <a:pt x="5048250" y="0"/>
                    </a:lnTo>
                    <a:lnTo>
                      <a:pt x="5048250" y="4572000"/>
                    </a:lnTo>
                    <a:lnTo>
                      <a:pt x="0" y="4572000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sq">
                <a:solidFill>
                  <a:srgbClr val="D5DDE8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s-CL"/>
              </a:p>
            </p:txBody>
          </p:sp>
          <p:sp>
            <p:nvSpPr>
              <p:cNvPr id="36" name="TextBox 36"/>
              <p:cNvSpPr txBox="1"/>
              <p:nvPr/>
            </p:nvSpPr>
            <p:spPr>
              <a:xfrm>
                <a:off x="0" y="-38100"/>
                <a:ext cx="5048250" cy="46101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grpSp>
          <p:nvGrpSpPr>
            <p:cNvPr id="37" name="Group 37"/>
            <p:cNvGrpSpPr/>
            <p:nvPr/>
          </p:nvGrpSpPr>
          <p:grpSpPr>
            <a:xfrm>
              <a:off x="355600" y="1397000"/>
              <a:ext cx="508000" cy="25400"/>
              <a:chOff x="0" y="0"/>
              <a:chExt cx="508000" cy="25400"/>
            </a:xfrm>
          </p:grpSpPr>
          <p:sp>
            <p:nvSpPr>
              <p:cNvPr id="38" name="Freeform 38"/>
              <p:cNvSpPr/>
              <p:nvPr/>
            </p:nvSpPr>
            <p:spPr>
              <a:xfrm>
                <a:off x="0" y="0"/>
                <a:ext cx="508000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508000" h="25400">
                    <a:moveTo>
                      <a:pt x="0" y="0"/>
                    </a:moveTo>
                    <a:lnTo>
                      <a:pt x="508000" y="0"/>
                    </a:lnTo>
                    <a:lnTo>
                      <a:pt x="508000" y="25400"/>
                    </a:lnTo>
                    <a:lnTo>
                      <a:pt x="0" y="25400"/>
                    </a:lnTo>
                    <a:close/>
                  </a:path>
                </a:pathLst>
              </a:custGeom>
              <a:solidFill>
                <a:srgbClr val="4EA8DE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s-CL"/>
              </a:p>
            </p:txBody>
          </p:sp>
          <p:sp>
            <p:nvSpPr>
              <p:cNvPr id="39" name="TextBox 39"/>
              <p:cNvSpPr txBox="1"/>
              <p:nvPr/>
            </p:nvSpPr>
            <p:spPr>
              <a:xfrm>
                <a:off x="0" y="-38100"/>
                <a:ext cx="508000" cy="63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40" name="TextBox 40"/>
            <p:cNvSpPr txBox="1"/>
            <p:nvPr/>
          </p:nvSpPr>
          <p:spPr>
            <a:xfrm>
              <a:off x="355600" y="377825"/>
              <a:ext cx="4337050" cy="2571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574"/>
                </a:lnSpc>
              </a:pPr>
              <a:r>
                <a:rPr lang="en-US" sz="1125" b="1" spc="337">
                  <a:solidFill>
                    <a:srgbClr val="4EA8DE"/>
                  </a:solidFill>
                  <a:latin typeface="Inter Bold"/>
                  <a:ea typeface="Inter Bold"/>
                  <a:cs typeface="Inter Bold"/>
                  <a:sym typeface="Inter Bold"/>
                </a:rPr>
                <a:t>MÓVIL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355600" y="377825"/>
              <a:ext cx="4337050" cy="2571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r">
                <a:lnSpc>
                  <a:spcPts val="1574"/>
                </a:lnSpc>
              </a:pPr>
              <a:r>
                <a:rPr lang="en-US" sz="1125" b="1">
                  <a:solidFill>
                    <a:srgbClr val="6B7C93"/>
                  </a:solidFill>
                  <a:latin typeface="Inter Bold"/>
                  <a:ea typeface="Inter Bold"/>
                  <a:cs typeface="Inter Bold"/>
                  <a:sym typeface="Inter Bold"/>
                </a:rPr>
                <a:t>03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355600" y="1641475"/>
              <a:ext cx="4337050" cy="4286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520"/>
                </a:lnSpc>
              </a:pPr>
              <a:r>
                <a:rPr lang="en-US" sz="2100" b="1">
                  <a:solidFill>
                    <a:srgbClr val="0B1C33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Compilaciones APK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355600" y="2254250"/>
              <a:ext cx="4337050" cy="60833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889"/>
                </a:lnSpc>
              </a:pPr>
              <a:r>
                <a:rPr lang="en-US" sz="1350">
                  <a:solidFill>
                    <a:srgbClr val="6B7C93"/>
                  </a:solidFill>
                  <a:latin typeface="Inter"/>
                  <a:ea typeface="Inter"/>
                  <a:cs typeface="Inter"/>
                  <a:sym typeface="Inter"/>
                </a:rPr>
                <a:t>Builds firmadas de la aplicación Android lista para pilotaje.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13358812" y="5143500"/>
            <a:ext cx="3786188" cy="3429000"/>
            <a:chOff x="0" y="0"/>
            <a:chExt cx="5048250" cy="4572000"/>
          </a:xfrm>
        </p:grpSpPr>
        <p:grpSp>
          <p:nvGrpSpPr>
            <p:cNvPr id="45" name="Group 45"/>
            <p:cNvGrpSpPr/>
            <p:nvPr/>
          </p:nvGrpSpPr>
          <p:grpSpPr>
            <a:xfrm>
              <a:off x="0" y="0"/>
              <a:ext cx="5048250" cy="4572000"/>
              <a:chOff x="0" y="0"/>
              <a:chExt cx="5048250" cy="4572000"/>
            </a:xfrm>
          </p:grpSpPr>
          <p:sp>
            <p:nvSpPr>
              <p:cNvPr id="46" name="Freeform 46"/>
              <p:cNvSpPr/>
              <p:nvPr/>
            </p:nvSpPr>
            <p:spPr>
              <a:xfrm>
                <a:off x="0" y="0"/>
                <a:ext cx="5048250" cy="4572000"/>
              </a:xfrm>
              <a:custGeom>
                <a:avLst/>
                <a:gdLst/>
                <a:ahLst/>
                <a:cxnLst/>
                <a:rect l="l" t="t" r="r" b="b"/>
                <a:pathLst>
                  <a:path w="5048250" h="4572000">
                    <a:moveTo>
                      <a:pt x="0" y="0"/>
                    </a:moveTo>
                    <a:lnTo>
                      <a:pt x="5048250" y="0"/>
                    </a:lnTo>
                    <a:lnTo>
                      <a:pt x="5048250" y="4572000"/>
                    </a:lnTo>
                    <a:lnTo>
                      <a:pt x="0" y="4572000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sq">
                <a:solidFill>
                  <a:srgbClr val="D5DDE8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s-CL"/>
              </a:p>
            </p:txBody>
          </p:sp>
          <p:sp>
            <p:nvSpPr>
              <p:cNvPr id="47" name="TextBox 47"/>
              <p:cNvSpPr txBox="1"/>
              <p:nvPr/>
            </p:nvSpPr>
            <p:spPr>
              <a:xfrm>
                <a:off x="0" y="-38100"/>
                <a:ext cx="5048250" cy="46101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grpSp>
          <p:nvGrpSpPr>
            <p:cNvPr id="48" name="Group 48"/>
            <p:cNvGrpSpPr/>
            <p:nvPr/>
          </p:nvGrpSpPr>
          <p:grpSpPr>
            <a:xfrm>
              <a:off x="355600" y="1397000"/>
              <a:ext cx="508000" cy="25400"/>
              <a:chOff x="0" y="0"/>
              <a:chExt cx="508000" cy="25400"/>
            </a:xfrm>
          </p:grpSpPr>
          <p:sp>
            <p:nvSpPr>
              <p:cNvPr id="49" name="Freeform 49"/>
              <p:cNvSpPr/>
              <p:nvPr/>
            </p:nvSpPr>
            <p:spPr>
              <a:xfrm>
                <a:off x="0" y="0"/>
                <a:ext cx="508000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508000" h="25400">
                    <a:moveTo>
                      <a:pt x="0" y="0"/>
                    </a:moveTo>
                    <a:lnTo>
                      <a:pt x="508000" y="0"/>
                    </a:lnTo>
                    <a:lnTo>
                      <a:pt x="508000" y="25400"/>
                    </a:lnTo>
                    <a:lnTo>
                      <a:pt x="0" y="25400"/>
                    </a:lnTo>
                    <a:close/>
                  </a:path>
                </a:pathLst>
              </a:custGeom>
              <a:solidFill>
                <a:srgbClr val="4EA8DE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s-CL"/>
              </a:p>
            </p:txBody>
          </p:sp>
          <p:sp>
            <p:nvSpPr>
              <p:cNvPr id="50" name="TextBox 50"/>
              <p:cNvSpPr txBox="1"/>
              <p:nvPr/>
            </p:nvSpPr>
            <p:spPr>
              <a:xfrm>
                <a:off x="0" y="-38100"/>
                <a:ext cx="508000" cy="63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51" name="TextBox 51"/>
            <p:cNvSpPr txBox="1"/>
            <p:nvPr/>
          </p:nvSpPr>
          <p:spPr>
            <a:xfrm>
              <a:off x="355600" y="377825"/>
              <a:ext cx="4337050" cy="2571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574"/>
                </a:lnSpc>
              </a:pPr>
              <a:r>
                <a:rPr lang="en-US" sz="1125" b="1" spc="337">
                  <a:solidFill>
                    <a:srgbClr val="4EA8DE"/>
                  </a:solidFill>
                  <a:latin typeface="Inter Bold"/>
                  <a:ea typeface="Inter Bold"/>
                  <a:cs typeface="Inter Bold"/>
                  <a:sym typeface="Inter Bold"/>
                </a:rPr>
                <a:t>INFRA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355600" y="377825"/>
              <a:ext cx="4337050" cy="2571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r">
                <a:lnSpc>
                  <a:spcPts val="1574"/>
                </a:lnSpc>
              </a:pPr>
              <a:r>
                <a:rPr lang="en-US" sz="1125" b="1">
                  <a:solidFill>
                    <a:srgbClr val="6B7C93"/>
                  </a:solidFill>
                  <a:latin typeface="Inter Bold"/>
                  <a:ea typeface="Inter Bold"/>
                  <a:cs typeface="Inter Bold"/>
                  <a:sym typeface="Inter Bold"/>
                </a:rPr>
                <a:t>04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355600" y="1641475"/>
              <a:ext cx="4337050" cy="4286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520"/>
                </a:lnSpc>
              </a:pPr>
              <a:r>
                <a:rPr lang="en-US" sz="2100" b="1">
                  <a:solidFill>
                    <a:srgbClr val="0B1C33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Entorno en AWS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355600" y="2254250"/>
              <a:ext cx="4337050" cy="60833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889"/>
                </a:lnSpc>
              </a:pPr>
              <a:r>
                <a:rPr lang="en-US" sz="1350">
                  <a:solidFill>
                    <a:srgbClr val="6B7C93"/>
                  </a:solidFill>
                  <a:latin typeface="Inter"/>
                  <a:ea typeface="Inter"/>
                  <a:cs typeface="Inter"/>
                  <a:sym typeface="Inter"/>
                </a:rPr>
                <a:t>Backend desplegado en la nube con base de datos gestionada.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C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143000" y="571500"/>
            <a:ext cx="457200" cy="38100"/>
            <a:chOff x="0" y="0"/>
            <a:chExt cx="609600" cy="50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09600" cy="50800"/>
            </a:xfrm>
            <a:custGeom>
              <a:avLst/>
              <a:gdLst/>
              <a:ahLst/>
              <a:cxnLst/>
              <a:rect l="l" t="t" r="r" b="b"/>
              <a:pathLst>
                <a:path w="609600" h="50800">
                  <a:moveTo>
                    <a:pt x="0" y="0"/>
                  </a:moveTo>
                  <a:lnTo>
                    <a:pt x="609600" y="0"/>
                  </a:lnTo>
                  <a:lnTo>
                    <a:pt x="609600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7FC8F8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609600" cy="88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790700" y="400050"/>
            <a:ext cx="1905000" cy="2228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b="1" spc="405">
                <a:solidFill>
                  <a:srgbClr val="7FC8F8"/>
                </a:solidFill>
                <a:latin typeface="Inter Bold"/>
                <a:ea typeface="Inter Bold"/>
                <a:cs typeface="Inter Bold"/>
                <a:sym typeface="Inter Bold"/>
              </a:rPr>
              <a:t>10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2381250" y="400050"/>
            <a:ext cx="8572500" cy="2228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spc="270">
                <a:solidFill>
                  <a:srgbClr val="F4F6FA"/>
                </a:solidFill>
                <a:latin typeface="Inter"/>
                <a:ea typeface="Inter"/>
                <a:cs typeface="Inter"/>
                <a:sym typeface="Inter"/>
              </a:rPr>
              <a:t>Conclusión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143000" y="9696450"/>
            <a:ext cx="8572500" cy="1733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lang="en-US" sz="1050" spc="315">
                <a:solidFill>
                  <a:srgbClr val="6B7C93"/>
                </a:solidFill>
                <a:latin typeface="Inter"/>
                <a:ea typeface="Inter"/>
                <a:cs typeface="Inter"/>
                <a:sym typeface="Inter"/>
              </a:rPr>
              <a:t>STL · Capstone Fase 1 · Duoc UC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5240000" y="9696450"/>
            <a:ext cx="1905000" cy="1733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470"/>
              </a:lnSpc>
            </a:pPr>
            <a:r>
              <a:rPr lang="en-US" sz="1050" spc="315">
                <a:solidFill>
                  <a:srgbClr val="6B7C93"/>
                </a:solidFill>
                <a:latin typeface="Inter"/>
                <a:ea typeface="Inter"/>
                <a:cs typeface="Inter"/>
                <a:sym typeface="Inter"/>
              </a:rPr>
              <a:t>10 / 10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-3810000" y="5715000"/>
            <a:ext cx="8572500" cy="8572500"/>
            <a:chOff x="0" y="0"/>
            <a:chExt cx="11430000" cy="114300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1430000" cy="11430000"/>
            </a:xfrm>
            <a:custGeom>
              <a:avLst/>
              <a:gdLst/>
              <a:ahLst/>
              <a:cxnLst/>
              <a:rect l="l" t="t" r="r" b="b"/>
              <a:pathLst>
                <a:path w="11430000" h="11430000">
                  <a:moveTo>
                    <a:pt x="5715000" y="0"/>
                  </a:moveTo>
                  <a:cubicBezTo>
                    <a:pt x="8871307" y="0"/>
                    <a:pt x="11430000" y="2558693"/>
                    <a:pt x="11430000" y="5715000"/>
                  </a:cubicBezTo>
                  <a:cubicBezTo>
                    <a:pt x="11430000" y="8871307"/>
                    <a:pt x="8871307" y="11430000"/>
                    <a:pt x="5715000" y="11430000"/>
                  </a:cubicBezTo>
                  <a:cubicBezTo>
                    <a:pt x="2558693" y="11430000"/>
                    <a:pt x="0" y="8871307"/>
                    <a:pt x="0" y="5715000"/>
                  </a:cubicBezTo>
                  <a:cubicBezTo>
                    <a:pt x="0" y="2558693"/>
                    <a:pt x="2558693" y="0"/>
                    <a:pt x="5715000" y="0"/>
                  </a:cubicBezTo>
                  <a:close/>
                </a:path>
              </a:pathLst>
            </a:custGeom>
            <a:solidFill>
              <a:srgbClr val="1E3A5F">
                <a:alpha val="49804"/>
              </a:srgbClr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CL"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1143000" y="1504950"/>
            <a:ext cx="3810000" cy="2228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b="1" spc="270">
                <a:solidFill>
                  <a:srgbClr val="7FC8F8"/>
                </a:solidFill>
                <a:latin typeface="Inter Bold"/>
                <a:ea typeface="Inter Bold"/>
                <a:cs typeface="Inter Bold"/>
                <a:sym typeface="Inter Bold"/>
              </a:rPr>
              <a:t>CIERRE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143000" y="1952625"/>
            <a:ext cx="15240000" cy="15259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940"/>
              </a:lnSpc>
            </a:pPr>
            <a:r>
              <a:rPr lang="en-US" sz="5400" b="1">
                <a:solidFill>
                  <a:srgbClr val="FFFFFF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Cuatro competencias,</a:t>
            </a:r>
          </a:p>
          <a:p>
            <a:pPr algn="l">
              <a:lnSpc>
                <a:spcPts val="5940"/>
              </a:lnSpc>
            </a:pPr>
            <a:r>
              <a:rPr lang="en-US" sz="5400" b="1">
                <a:solidFill>
                  <a:srgbClr val="FFFFFF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un proyecto integral.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143000" y="3726180"/>
            <a:ext cx="10477500" cy="6229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lang="en-US" sz="1650">
                <a:solidFill>
                  <a:srgbClr val="F4F6FA"/>
                </a:solidFill>
                <a:latin typeface="Inter"/>
                <a:ea typeface="Inter"/>
                <a:cs typeface="Inter"/>
                <a:sym typeface="Inter"/>
              </a:rPr>
              <a:t>El STL cumple las cuatro competencias del perfil de egreso, integrando desarrollo, datos, gestión y calidad en un ecosistema coherente.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1143000" y="6096000"/>
            <a:ext cx="3829050" cy="1714500"/>
            <a:chOff x="0" y="0"/>
            <a:chExt cx="5105400" cy="2286000"/>
          </a:xfrm>
        </p:grpSpPr>
        <p:grpSp>
          <p:nvGrpSpPr>
            <p:cNvPr id="15" name="Group 15"/>
            <p:cNvGrpSpPr/>
            <p:nvPr/>
          </p:nvGrpSpPr>
          <p:grpSpPr>
            <a:xfrm>
              <a:off x="0" y="0"/>
              <a:ext cx="5105400" cy="2286000"/>
              <a:chOff x="0" y="0"/>
              <a:chExt cx="5105400" cy="2286000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0" y="0"/>
                <a:ext cx="5105400" cy="2286000"/>
              </a:xfrm>
              <a:custGeom>
                <a:avLst/>
                <a:gdLst/>
                <a:ahLst/>
                <a:cxnLst/>
                <a:rect l="l" t="t" r="r" b="b"/>
                <a:pathLst>
                  <a:path w="5105400" h="2286000">
                    <a:moveTo>
                      <a:pt x="0" y="0"/>
                    </a:moveTo>
                    <a:lnTo>
                      <a:pt x="5105400" y="0"/>
                    </a:lnTo>
                    <a:lnTo>
                      <a:pt x="5105400" y="2286000"/>
                    </a:lnTo>
                    <a:lnTo>
                      <a:pt x="0" y="2286000"/>
                    </a:lnTo>
                    <a:close/>
                  </a:path>
                </a:pathLst>
              </a:custGeom>
              <a:solidFill>
                <a:srgbClr val="12233D"/>
              </a:solidFill>
              <a:ln w="9525" cap="sq">
                <a:solidFill>
                  <a:srgbClr val="1E3A5F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s-CL"/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0" y="-38100"/>
                <a:ext cx="5105400" cy="23241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grpSp>
          <p:nvGrpSpPr>
            <p:cNvPr id="18" name="Group 18"/>
            <p:cNvGrpSpPr/>
            <p:nvPr/>
          </p:nvGrpSpPr>
          <p:grpSpPr>
            <a:xfrm>
              <a:off x="0" y="0"/>
              <a:ext cx="5105400" cy="50800"/>
              <a:chOff x="0" y="0"/>
              <a:chExt cx="5105400" cy="50800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0" y="0"/>
                <a:ext cx="510540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5105400" h="50800">
                    <a:moveTo>
                      <a:pt x="0" y="0"/>
                    </a:moveTo>
                    <a:lnTo>
                      <a:pt x="5105400" y="0"/>
                    </a:lnTo>
                    <a:lnTo>
                      <a:pt x="5105400" y="50800"/>
                    </a:lnTo>
                    <a:lnTo>
                      <a:pt x="0" y="50800"/>
                    </a:lnTo>
                    <a:close/>
                  </a:path>
                </a:pathLst>
              </a:custGeom>
              <a:solidFill>
                <a:srgbClr val="7FC8F8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s-CL"/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0" y="-38100"/>
                <a:ext cx="5105400" cy="889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21" name="TextBox 21"/>
            <p:cNvSpPr txBox="1"/>
            <p:nvPr/>
          </p:nvSpPr>
          <p:spPr>
            <a:xfrm>
              <a:off x="355600" y="327025"/>
              <a:ext cx="4394200" cy="26733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679"/>
                </a:lnSpc>
              </a:pPr>
              <a:r>
                <a:rPr lang="en-US" sz="1200" b="1" spc="360">
                  <a:solidFill>
                    <a:srgbClr val="7FC8F8"/>
                  </a:solidFill>
                  <a:latin typeface="Inter Bold"/>
                  <a:ea typeface="Inter Bold"/>
                  <a:cs typeface="Inter Bold"/>
                  <a:sym typeface="Inter Bold"/>
                </a:rPr>
                <a:t>01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355600" y="1104900"/>
              <a:ext cx="4394200" cy="54864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569"/>
                </a:lnSpc>
              </a:pPr>
              <a:r>
                <a:rPr lang="en-US" sz="2550" b="1">
                  <a:solidFill>
                    <a:srgbClr val="FFFFFF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Desarrollo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5200650" y="6096000"/>
            <a:ext cx="3829050" cy="1714500"/>
            <a:chOff x="0" y="0"/>
            <a:chExt cx="5105400" cy="2286000"/>
          </a:xfrm>
        </p:grpSpPr>
        <p:grpSp>
          <p:nvGrpSpPr>
            <p:cNvPr id="24" name="Group 24"/>
            <p:cNvGrpSpPr/>
            <p:nvPr/>
          </p:nvGrpSpPr>
          <p:grpSpPr>
            <a:xfrm>
              <a:off x="0" y="0"/>
              <a:ext cx="5105400" cy="2286000"/>
              <a:chOff x="0" y="0"/>
              <a:chExt cx="5105400" cy="2286000"/>
            </a:xfrm>
          </p:grpSpPr>
          <p:sp>
            <p:nvSpPr>
              <p:cNvPr id="25" name="Freeform 25"/>
              <p:cNvSpPr/>
              <p:nvPr/>
            </p:nvSpPr>
            <p:spPr>
              <a:xfrm>
                <a:off x="0" y="0"/>
                <a:ext cx="5105400" cy="2286000"/>
              </a:xfrm>
              <a:custGeom>
                <a:avLst/>
                <a:gdLst/>
                <a:ahLst/>
                <a:cxnLst/>
                <a:rect l="l" t="t" r="r" b="b"/>
                <a:pathLst>
                  <a:path w="5105400" h="2286000">
                    <a:moveTo>
                      <a:pt x="0" y="0"/>
                    </a:moveTo>
                    <a:lnTo>
                      <a:pt x="5105400" y="0"/>
                    </a:lnTo>
                    <a:lnTo>
                      <a:pt x="5105400" y="2286000"/>
                    </a:lnTo>
                    <a:lnTo>
                      <a:pt x="0" y="2286000"/>
                    </a:lnTo>
                    <a:close/>
                  </a:path>
                </a:pathLst>
              </a:custGeom>
              <a:solidFill>
                <a:srgbClr val="12233D"/>
              </a:solidFill>
              <a:ln w="9525" cap="sq">
                <a:solidFill>
                  <a:srgbClr val="1E3A5F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s-CL"/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0" y="-38100"/>
                <a:ext cx="5105400" cy="23241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grpSp>
          <p:nvGrpSpPr>
            <p:cNvPr id="27" name="Group 27"/>
            <p:cNvGrpSpPr/>
            <p:nvPr/>
          </p:nvGrpSpPr>
          <p:grpSpPr>
            <a:xfrm>
              <a:off x="0" y="0"/>
              <a:ext cx="5105400" cy="50800"/>
              <a:chOff x="0" y="0"/>
              <a:chExt cx="5105400" cy="50800"/>
            </a:xfrm>
          </p:grpSpPr>
          <p:sp>
            <p:nvSpPr>
              <p:cNvPr id="28" name="Freeform 28"/>
              <p:cNvSpPr/>
              <p:nvPr/>
            </p:nvSpPr>
            <p:spPr>
              <a:xfrm>
                <a:off x="0" y="0"/>
                <a:ext cx="510540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5105400" h="50800">
                    <a:moveTo>
                      <a:pt x="0" y="0"/>
                    </a:moveTo>
                    <a:lnTo>
                      <a:pt x="5105400" y="0"/>
                    </a:lnTo>
                    <a:lnTo>
                      <a:pt x="5105400" y="50800"/>
                    </a:lnTo>
                    <a:lnTo>
                      <a:pt x="0" y="50800"/>
                    </a:lnTo>
                    <a:close/>
                  </a:path>
                </a:pathLst>
              </a:custGeom>
              <a:solidFill>
                <a:srgbClr val="7FC8F8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s-CL"/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0" y="-38100"/>
                <a:ext cx="5105400" cy="889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30" name="TextBox 30"/>
            <p:cNvSpPr txBox="1"/>
            <p:nvPr/>
          </p:nvSpPr>
          <p:spPr>
            <a:xfrm>
              <a:off x="355600" y="327025"/>
              <a:ext cx="4394200" cy="26733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679"/>
                </a:lnSpc>
              </a:pPr>
              <a:r>
                <a:rPr lang="en-US" sz="1200" b="1" spc="360">
                  <a:solidFill>
                    <a:srgbClr val="7FC8F8"/>
                  </a:solidFill>
                  <a:latin typeface="Inter Bold"/>
                  <a:ea typeface="Inter Bold"/>
                  <a:cs typeface="Inter Bold"/>
                  <a:sym typeface="Inter Bold"/>
                </a:rPr>
                <a:t>02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355600" y="1104900"/>
              <a:ext cx="4394200" cy="54864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569"/>
                </a:lnSpc>
              </a:pPr>
              <a:r>
                <a:rPr lang="en-US" sz="2550" b="1">
                  <a:solidFill>
                    <a:srgbClr val="FFFFFF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Base de Datos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9258300" y="6096000"/>
            <a:ext cx="3829050" cy="1714500"/>
            <a:chOff x="0" y="0"/>
            <a:chExt cx="5105400" cy="2286000"/>
          </a:xfrm>
        </p:grpSpPr>
        <p:grpSp>
          <p:nvGrpSpPr>
            <p:cNvPr id="33" name="Group 33"/>
            <p:cNvGrpSpPr/>
            <p:nvPr/>
          </p:nvGrpSpPr>
          <p:grpSpPr>
            <a:xfrm>
              <a:off x="0" y="0"/>
              <a:ext cx="5105400" cy="2286000"/>
              <a:chOff x="0" y="0"/>
              <a:chExt cx="5105400" cy="2286000"/>
            </a:xfrm>
          </p:grpSpPr>
          <p:sp>
            <p:nvSpPr>
              <p:cNvPr id="34" name="Freeform 34"/>
              <p:cNvSpPr/>
              <p:nvPr/>
            </p:nvSpPr>
            <p:spPr>
              <a:xfrm>
                <a:off x="0" y="0"/>
                <a:ext cx="5105400" cy="2286000"/>
              </a:xfrm>
              <a:custGeom>
                <a:avLst/>
                <a:gdLst/>
                <a:ahLst/>
                <a:cxnLst/>
                <a:rect l="l" t="t" r="r" b="b"/>
                <a:pathLst>
                  <a:path w="5105400" h="2286000">
                    <a:moveTo>
                      <a:pt x="0" y="0"/>
                    </a:moveTo>
                    <a:lnTo>
                      <a:pt x="5105400" y="0"/>
                    </a:lnTo>
                    <a:lnTo>
                      <a:pt x="5105400" y="2286000"/>
                    </a:lnTo>
                    <a:lnTo>
                      <a:pt x="0" y="2286000"/>
                    </a:lnTo>
                    <a:close/>
                  </a:path>
                </a:pathLst>
              </a:custGeom>
              <a:solidFill>
                <a:srgbClr val="12233D"/>
              </a:solidFill>
              <a:ln w="9525" cap="sq">
                <a:solidFill>
                  <a:srgbClr val="1E3A5F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s-CL"/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0" y="-38100"/>
                <a:ext cx="5105400" cy="23241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grpSp>
          <p:nvGrpSpPr>
            <p:cNvPr id="36" name="Group 36"/>
            <p:cNvGrpSpPr/>
            <p:nvPr/>
          </p:nvGrpSpPr>
          <p:grpSpPr>
            <a:xfrm>
              <a:off x="0" y="0"/>
              <a:ext cx="5105400" cy="50800"/>
              <a:chOff x="0" y="0"/>
              <a:chExt cx="5105400" cy="50800"/>
            </a:xfrm>
          </p:grpSpPr>
          <p:sp>
            <p:nvSpPr>
              <p:cNvPr id="37" name="Freeform 37"/>
              <p:cNvSpPr/>
              <p:nvPr/>
            </p:nvSpPr>
            <p:spPr>
              <a:xfrm>
                <a:off x="0" y="0"/>
                <a:ext cx="510540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5105400" h="50800">
                    <a:moveTo>
                      <a:pt x="0" y="0"/>
                    </a:moveTo>
                    <a:lnTo>
                      <a:pt x="5105400" y="0"/>
                    </a:lnTo>
                    <a:lnTo>
                      <a:pt x="5105400" y="50800"/>
                    </a:lnTo>
                    <a:lnTo>
                      <a:pt x="0" y="50800"/>
                    </a:lnTo>
                    <a:close/>
                  </a:path>
                </a:pathLst>
              </a:custGeom>
              <a:solidFill>
                <a:srgbClr val="7FC8F8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s-CL"/>
              </a:p>
            </p:txBody>
          </p:sp>
          <p:sp>
            <p:nvSpPr>
              <p:cNvPr id="38" name="TextBox 38"/>
              <p:cNvSpPr txBox="1"/>
              <p:nvPr/>
            </p:nvSpPr>
            <p:spPr>
              <a:xfrm>
                <a:off x="0" y="-38100"/>
                <a:ext cx="5105400" cy="889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39" name="TextBox 39"/>
            <p:cNvSpPr txBox="1"/>
            <p:nvPr/>
          </p:nvSpPr>
          <p:spPr>
            <a:xfrm>
              <a:off x="355600" y="327025"/>
              <a:ext cx="4394200" cy="26733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679"/>
                </a:lnSpc>
              </a:pPr>
              <a:r>
                <a:rPr lang="en-US" sz="1200" b="1" spc="360">
                  <a:solidFill>
                    <a:srgbClr val="7FC8F8"/>
                  </a:solidFill>
                  <a:latin typeface="Inter Bold"/>
                  <a:ea typeface="Inter Bold"/>
                  <a:cs typeface="Inter Bold"/>
                  <a:sym typeface="Inter Bold"/>
                </a:rPr>
                <a:t>03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355600" y="1104900"/>
              <a:ext cx="4394200" cy="54864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569"/>
                </a:lnSpc>
              </a:pPr>
              <a:r>
                <a:rPr lang="en-US" sz="2550" b="1">
                  <a:solidFill>
                    <a:srgbClr val="FFFFFF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Gestión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13315950" y="6096000"/>
            <a:ext cx="3829050" cy="1714500"/>
            <a:chOff x="0" y="0"/>
            <a:chExt cx="5105400" cy="2286000"/>
          </a:xfrm>
        </p:grpSpPr>
        <p:grpSp>
          <p:nvGrpSpPr>
            <p:cNvPr id="42" name="Group 42"/>
            <p:cNvGrpSpPr/>
            <p:nvPr/>
          </p:nvGrpSpPr>
          <p:grpSpPr>
            <a:xfrm>
              <a:off x="0" y="0"/>
              <a:ext cx="5105400" cy="2286000"/>
              <a:chOff x="0" y="0"/>
              <a:chExt cx="5105400" cy="2286000"/>
            </a:xfrm>
          </p:grpSpPr>
          <p:sp>
            <p:nvSpPr>
              <p:cNvPr id="43" name="Freeform 43"/>
              <p:cNvSpPr/>
              <p:nvPr/>
            </p:nvSpPr>
            <p:spPr>
              <a:xfrm>
                <a:off x="0" y="0"/>
                <a:ext cx="5105400" cy="2286000"/>
              </a:xfrm>
              <a:custGeom>
                <a:avLst/>
                <a:gdLst/>
                <a:ahLst/>
                <a:cxnLst/>
                <a:rect l="l" t="t" r="r" b="b"/>
                <a:pathLst>
                  <a:path w="5105400" h="2286000">
                    <a:moveTo>
                      <a:pt x="0" y="0"/>
                    </a:moveTo>
                    <a:lnTo>
                      <a:pt x="5105400" y="0"/>
                    </a:lnTo>
                    <a:lnTo>
                      <a:pt x="5105400" y="2286000"/>
                    </a:lnTo>
                    <a:lnTo>
                      <a:pt x="0" y="2286000"/>
                    </a:lnTo>
                    <a:close/>
                  </a:path>
                </a:pathLst>
              </a:custGeom>
              <a:solidFill>
                <a:srgbClr val="12233D"/>
              </a:solidFill>
              <a:ln w="9525" cap="sq">
                <a:solidFill>
                  <a:srgbClr val="1E3A5F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s-CL"/>
              </a:p>
            </p:txBody>
          </p:sp>
          <p:sp>
            <p:nvSpPr>
              <p:cNvPr id="44" name="TextBox 44"/>
              <p:cNvSpPr txBox="1"/>
              <p:nvPr/>
            </p:nvSpPr>
            <p:spPr>
              <a:xfrm>
                <a:off x="0" y="-38100"/>
                <a:ext cx="5105400" cy="23241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grpSp>
          <p:nvGrpSpPr>
            <p:cNvPr id="45" name="Group 45"/>
            <p:cNvGrpSpPr/>
            <p:nvPr/>
          </p:nvGrpSpPr>
          <p:grpSpPr>
            <a:xfrm>
              <a:off x="0" y="0"/>
              <a:ext cx="5105400" cy="50800"/>
              <a:chOff x="0" y="0"/>
              <a:chExt cx="5105400" cy="50800"/>
            </a:xfrm>
          </p:grpSpPr>
          <p:sp>
            <p:nvSpPr>
              <p:cNvPr id="46" name="Freeform 46"/>
              <p:cNvSpPr/>
              <p:nvPr/>
            </p:nvSpPr>
            <p:spPr>
              <a:xfrm>
                <a:off x="0" y="0"/>
                <a:ext cx="510540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5105400" h="50800">
                    <a:moveTo>
                      <a:pt x="0" y="0"/>
                    </a:moveTo>
                    <a:lnTo>
                      <a:pt x="5105400" y="0"/>
                    </a:lnTo>
                    <a:lnTo>
                      <a:pt x="5105400" y="50800"/>
                    </a:lnTo>
                    <a:lnTo>
                      <a:pt x="0" y="50800"/>
                    </a:lnTo>
                    <a:close/>
                  </a:path>
                </a:pathLst>
              </a:custGeom>
              <a:solidFill>
                <a:srgbClr val="7FC8F8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s-CL"/>
              </a:p>
            </p:txBody>
          </p:sp>
          <p:sp>
            <p:nvSpPr>
              <p:cNvPr id="47" name="TextBox 47"/>
              <p:cNvSpPr txBox="1"/>
              <p:nvPr/>
            </p:nvSpPr>
            <p:spPr>
              <a:xfrm>
                <a:off x="0" y="-38100"/>
                <a:ext cx="5105400" cy="889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48" name="TextBox 48"/>
            <p:cNvSpPr txBox="1"/>
            <p:nvPr/>
          </p:nvSpPr>
          <p:spPr>
            <a:xfrm>
              <a:off x="355600" y="327025"/>
              <a:ext cx="4394200" cy="26733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679"/>
                </a:lnSpc>
              </a:pPr>
              <a:r>
                <a:rPr lang="en-US" sz="1200" b="1" spc="360">
                  <a:solidFill>
                    <a:srgbClr val="7FC8F8"/>
                  </a:solidFill>
                  <a:latin typeface="Inter Bold"/>
                  <a:ea typeface="Inter Bold"/>
                  <a:cs typeface="Inter Bold"/>
                  <a:sym typeface="Inter Bold"/>
                </a:rPr>
                <a:t>04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355600" y="1104900"/>
              <a:ext cx="4394200" cy="54864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569"/>
                </a:lnSpc>
              </a:pPr>
              <a:r>
                <a:rPr lang="en-US" sz="2550" b="1">
                  <a:solidFill>
                    <a:srgbClr val="FFFFFF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QA</a:t>
              </a:r>
            </a:p>
          </p:txBody>
        </p:sp>
      </p:grpSp>
      <p:sp>
        <p:nvSpPr>
          <p:cNvPr id="50" name="TextBox 50"/>
          <p:cNvSpPr txBox="1"/>
          <p:nvPr/>
        </p:nvSpPr>
        <p:spPr>
          <a:xfrm>
            <a:off x="1143000" y="8305800"/>
            <a:ext cx="8572500" cy="7124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880"/>
              </a:lnSpc>
            </a:pPr>
            <a:r>
              <a:rPr lang="en-US" sz="4200" b="1">
                <a:solidFill>
                  <a:srgbClr val="7FC8F8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Gracias.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4762500" y="8601075"/>
            <a:ext cx="11430000" cy="2914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>
                <a:solidFill>
                  <a:srgbClr val="F4F6FA"/>
                </a:solidFill>
                <a:latin typeface="Inter"/>
                <a:ea typeface="Inter"/>
                <a:cs typeface="Inter"/>
                <a:sym typeface="Inter"/>
              </a:rPr>
              <a:t>Abiertos a preguntas y discusión técnica.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691</Words>
  <Application>Microsoft Office PowerPoint</Application>
  <PresentationFormat>Custom</PresentationFormat>
  <Paragraphs>173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Calibri</vt:lpstr>
      <vt:lpstr>Inter Bold</vt:lpstr>
      <vt:lpstr>Inter</vt:lpstr>
      <vt:lpstr>IBM Plex Sans Bold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ANDRES ROJAS MATURANA</cp:lastModifiedBy>
  <cp:revision>2</cp:revision>
  <dcterms:created xsi:type="dcterms:W3CDTF">2006-08-16T00:00:00Z</dcterms:created>
  <dcterms:modified xsi:type="dcterms:W3CDTF">2026-08-31T03:47:56Z</dcterms:modified>
  <dc:identifier>DAHT014mo04</dc:identifier>
</cp:coreProperties>
</file>